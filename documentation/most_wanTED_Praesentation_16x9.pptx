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76" r:id="rId27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7" r:id="rId28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1F5F9"/>
                </a:solidFill>
                <a:latin typeface="Segoe UI"/>
              </a:defRPr>
            </a:pPr>
            <a:r>
              <a:t>most wanTED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6B6D4"/>
                </a:solidFill>
                <a:latin typeface="Segoe UI"/>
              </a:defRPr>
            </a:pPr>
            <a:r>
              <a:t>Microservice-Architektur für die Trading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200400"/>
            <a:ext cx="301752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Hans Erik Krenn  |  Patrick Gruener  |  Kevin Ulm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FH Campus 02 -- Integrationstechnologien für eGovernment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SS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43887" y="5212080"/>
            <a:ext cx="1097280" cy="347472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43887" y="52303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6B6D4"/>
                </a:solidFill>
                <a:latin typeface="Segoe UI"/>
              </a:defRPr>
            </a:pPr>
            <a:r>
              <a:t>.NET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78327" y="5212080"/>
            <a:ext cx="1097280" cy="347472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8327" y="52303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6B6D4"/>
                </a:solidFill>
                <a:latin typeface="Segoe UI"/>
              </a:defRPr>
            </a:pPr>
            <a:r>
              <a:t>C#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2767" y="5212080"/>
            <a:ext cx="1097280" cy="347472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2767" y="52303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6B6D4"/>
                </a:solidFill>
                <a:latin typeface="Segoe UI"/>
              </a:defRPr>
            </a:pPr>
            <a:r>
              <a:t>Consul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7207" y="5212080"/>
            <a:ext cx="1097280" cy="347472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7207" y="52303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6B6D4"/>
                </a:solidFill>
                <a:latin typeface="Segoe UI"/>
              </a:defRPr>
            </a:pPr>
            <a:r>
              <a:t>gRPC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81647" y="5212080"/>
            <a:ext cx="1097280" cy="347472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1647" y="52303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6B6D4"/>
                </a:solidFill>
                <a:latin typeface="Segoe UI"/>
              </a:defRPr>
            </a:pPr>
            <a:r>
              <a:t>OData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6087" y="5212080"/>
            <a:ext cx="1097280" cy="347472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6087" y="52303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6B6D4"/>
                </a:solidFill>
                <a:latin typeface="Segoe UI"/>
              </a:defRPr>
            </a:pPr>
            <a:r>
              <a:t>Polly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50527" y="5212080"/>
            <a:ext cx="1097280" cy="347472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0527" y="52303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6B6D4"/>
                </a:solidFill>
                <a:latin typeface="Segoe UI"/>
              </a:defRPr>
            </a:pPr>
            <a:r>
              <a:t>Webhooks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Überblick über die Präsentation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5F9"/>
                </a:solidFill>
                <a:latin typeface="Segoe UI"/>
              </a:defRPr>
            </a:pPr>
            <a:r>
              <a:t>Projektziel &amp; Kontext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463040"/>
            <a:ext cx="338328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5F9"/>
                </a:solidFill>
                <a:latin typeface="Segoe UI"/>
              </a:defRPr>
            </a:pPr>
            <a:r>
              <a:t>Aufgaben &amp; TED-Themen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38328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5F9"/>
                </a:solidFill>
                <a:latin typeface="Segoe UI"/>
              </a:defRPr>
            </a:pPr>
            <a:r>
              <a:t>Makro-Architektur &amp;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338328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54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5F9"/>
                </a:solidFill>
                <a:latin typeface="Segoe UI"/>
              </a:defRPr>
            </a:pPr>
            <a:r>
              <a:t>Kommunikationsprotokolle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3017520"/>
            <a:ext cx="338328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3154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5F9"/>
                </a:solidFill>
                <a:latin typeface="Segoe UI"/>
              </a:defRPr>
            </a:pPr>
            <a:r>
              <a:t>Mikro-Architektur &amp; DDD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017520"/>
            <a:ext cx="338328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154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5F9"/>
                </a:solidFill>
                <a:latin typeface="Segoe UI"/>
              </a:defRPr>
            </a:pPr>
            <a:r>
              <a:t>Patterns &amp; Resilience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72000"/>
            <a:ext cx="338328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5F9"/>
                </a:solidFill>
                <a:latin typeface="Segoe UI"/>
              </a:defRPr>
            </a:pPr>
            <a:r>
              <a:t>Theoretische Vertiefung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4572000"/>
            <a:ext cx="338328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39" y="4709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39" y="5212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5F9"/>
                </a:solidFill>
                <a:latin typeface="Segoe UI"/>
              </a:defRPr>
            </a:pPr>
            <a:r>
              <a:t>Live-Demo Szenarien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572000"/>
            <a:ext cx="3383280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709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5CF6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212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1F5F9"/>
                </a:solidFill>
                <a:latin typeface="Segoe UI"/>
              </a:defRPr>
            </a:pPr>
            <a:r>
              <a:t>Fazit &amp; Ausblick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Projektziel &amp; 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Was ist "most wanTED"?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most wanTED erweitert die bestehende Handelsplattform SolTradingPlatform um eine umfragebasierte Entscheidungsunterstützung. Beteiligte -- Kunden, Lieferanten, Kreditkartenunternehmen und Produzenten -- werden bei Entscheidungen zu Produktauswahl, Bezahlvarianten und Liefervarianten unterstuetzt.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2560320" cy="2743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256032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egoe UI"/>
              </a:defRPr>
            </a:pPr>
            <a:r>
              <a:t>Lehrveranstaltung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Integrationstechnologien</a:t>
            </a:r>
            <a:br/>
            <a:r>
              <a:t>für eGovernment</a:t>
            </a:r>
            <a:br/>
            <a:r>
              <a:t>FH Campus 02, Graz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743200"/>
            <a:ext cx="2560320" cy="2743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2743200"/>
            <a:ext cx="256032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971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4747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Hans Erik Krenn</a:t>
            </a:r>
            <a:br/>
            <a:r>
              <a:t>Patrick Gruener</a:t>
            </a:r>
            <a:br/>
            <a:r>
              <a:t>Kevin Ulm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2560320" cy="2743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743200"/>
            <a:ext cx="25603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971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Tech-Stack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747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.NET 8 / C#</a:t>
            </a:r>
            <a:br/>
            <a:r>
              <a:t>ASP.NET Core</a:t>
            </a:r>
            <a:br/>
            <a:r>
              <a:t>Microservices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743200"/>
            <a:ext cx="2560320" cy="2743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2743200"/>
            <a:ext cx="256032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971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Bewertung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47472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100 Punkte regulär</a:t>
            </a:r>
            <a:br/>
            <a:r>
              <a:t>+ 5 Bonus</a:t>
            </a:r>
            <a:br/>
            <a:r>
              <a:t>= 105 möglich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Makro-Architektur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Service-Landschaft &amp; Kommunikationsbeziehungen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4247" y="1280160"/>
            <a:ext cx="2743200" cy="5486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4247" y="131673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Browser /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1527" y="1828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81247" y="2103120"/>
            <a:ext cx="5029200" cy="64008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1247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MeiShop -- API Gateway (Port 7024)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887" y="3200400"/>
            <a:ext cx="164592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887" y="32918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ProductService</a:t>
            </a:r>
            <a:br/>
            <a:r>
              <a:t>:7200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9687" y="3200400"/>
            <a:ext cx="164592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9687" y="32918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FtpCatalog</a:t>
            </a:r>
            <a:br/>
            <a:r>
              <a:t>:7300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8487" y="3200400"/>
            <a:ext cx="164592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8487" y="32918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CreditCard</a:t>
            </a:r>
            <a:br/>
            <a:r>
              <a:t>:7231-33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200400"/>
            <a:ext cx="164592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7287" y="32918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PaymentSvc</a:t>
            </a:r>
            <a:br/>
            <a:r>
              <a:t>:7400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6087" y="3200400"/>
            <a:ext cx="164592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6087" y="32918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ODataSvc</a:t>
            </a:r>
            <a:br/>
            <a:r>
              <a:t>:7500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44887" y="3200400"/>
            <a:ext cx="1645920" cy="100584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44887" y="32918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SagaSvc</a:t>
            </a:r>
            <a:br/>
            <a:r>
              <a:t>:7700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3767" y="4754880"/>
            <a:ext cx="3291840" cy="502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3767" y="4800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  <a:latin typeface="Segoe UI"/>
              </a:defRPr>
            </a:pPr>
            <a:r>
              <a:t>Consul -- Service Discovery (:8500)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4754880"/>
            <a:ext cx="3291840" cy="502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9927" y="4800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6B6D4"/>
                </a:solidFill>
                <a:latin typeface="Segoe UI"/>
              </a:defRPr>
            </a:pPr>
            <a:r>
              <a:t>LoggingService -- gRPC (:5500)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6087" y="4754880"/>
            <a:ext cx="3291840" cy="5029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6087" y="4800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WebhookSubscriber (:7600)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REST/JSON  |  gRPC/Protobuf  |  OData v4  |  Webhooks  |  Content Negotiation (JSON/XML/CSV)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Service-Übersicht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Alle Microservices im Überblick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274320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Protokoll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Beschreibung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MeiShop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7024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REST (MVC)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Frontend / API Gateway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ProductService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7200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REST (JSON)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Produktverwaltung (In-Memory)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FtpProductCatalog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7300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REST (JSON)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Produkte aus Textdatei (FTP/Fallback)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IEGEasyCreditCard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7231-33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REST (JSON)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Kreditkarte (3 Instanzen)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PaymentService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7400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REST (JSON/XML/CSV)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Payment + Content Negotiation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LoggingService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5500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gRPC (Protobuf)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Zentrales Logging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ProductODataService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7500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OData v4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Standardisierte Abfragen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WebhookSubscriber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7600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REST (JSON)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Webhook-Empfaenger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OrderSagaService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7700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REST (JSON)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SAGA-Orchestrator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Consul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8500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HTTP API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Service Discovery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Kommunikationsprotokolle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Wie kommunizieren die Services?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447" y="1463040"/>
            <a:ext cx="201168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447" y="1463040"/>
            <a:ext cx="201168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887" y="1645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B82F6"/>
                </a:solidFill>
                <a:latin typeface="Segoe UI"/>
              </a:defRPr>
            </a:pPr>
            <a:r>
              <a:t>REST / HTTP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" y="2377440"/>
            <a:ext cx="16459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327" y="2423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Segoe UI"/>
              </a:defRPr>
            </a:pPr>
            <a:r>
              <a:t>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32918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Primaere Service-zu-Service</a:t>
            </a:r>
            <a:br/>
            <a:r>
              <a:t>Kommunikation. Standard</a:t>
            </a:r>
            <a:br/>
            <a:r>
              <a:t>ASP.NET Core Controller.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9727" y="1463040"/>
            <a:ext cx="201168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49727" y="1463040"/>
            <a:ext cx="201168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1167" y="1645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gRPC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32607" y="2377440"/>
            <a:ext cx="16459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2607" y="2423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6B6D4"/>
                </a:solidFill>
                <a:latin typeface="Segoe UI"/>
              </a:defRPr>
            </a:pPr>
            <a:r>
              <a:t>Protobuf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1167" y="32918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Binaeres Protokoll für</a:t>
            </a:r>
            <a:br/>
            <a:r>
              <a:t>effizientes Logging.</a:t>
            </a:r>
            <a:br/>
            <a:r>
              <a:t>Hoher Durchsatz.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0007" y="1463040"/>
            <a:ext cx="201168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0007" y="1463040"/>
            <a:ext cx="201168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1447" y="1645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OData v4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72887" y="2377440"/>
            <a:ext cx="16459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2887" y="2423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Segoe UI"/>
              </a:defRPr>
            </a:pPr>
            <a:r>
              <a:t>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1447" y="32918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SQL-aehnliche Abfragen:</a:t>
            </a:r>
            <a:br/>
            <a:r>
              <a:t>$filter, $orderby, $top</a:t>
            </a:r>
            <a:br/>
            <a:r>
              <a:t>$skip, $select, $count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30287" y="1463040"/>
            <a:ext cx="201168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30287" y="1463040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1727" y="1645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Webhooks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13167" y="2377440"/>
            <a:ext cx="16459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3167" y="2423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9E0B"/>
                </a:solidFill>
                <a:latin typeface="Segoe UI"/>
              </a:defRPr>
            </a:pPr>
            <a:r>
              <a:t>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1727" y="32918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Event-basierte Push-</a:t>
            </a:r>
            <a:br/>
            <a:r>
              <a:t>Benachrichtigungen bei</a:t>
            </a:r>
            <a:br/>
            <a:r>
              <a:t>Zahlungserstellung.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70567" y="1463040"/>
            <a:ext cx="201168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70567" y="1463040"/>
            <a:ext cx="201168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62007" y="1645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Content</a:t>
            </a:r>
            <a:br/>
            <a:r>
              <a:t>Negotiation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53447" y="2377440"/>
            <a:ext cx="164592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53447" y="24231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5CF6"/>
                </a:solidFill>
                <a:latin typeface="Segoe UI"/>
              </a:defRPr>
            </a:pPr>
            <a:r>
              <a:t>JSON</a:t>
            </a:r>
            <a:br/>
            <a:r>
              <a:t>XML</a:t>
            </a:r>
            <a:br/>
            <a:r>
              <a:t>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2007" y="32918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Format-Auswahl über</a:t>
            </a:r>
            <a:br/>
            <a:r>
              <a:t>HTTP Accept/Content-Type</a:t>
            </a:r>
            <a:br/>
            <a:r>
              <a:t>Header.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7/22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Mikro-Architektur: PaymentService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Interner Aufbau eines Microservices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28600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0800" cy="914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egoe UI"/>
              </a:defRPr>
            </a:pPr>
            <a:r>
              <a:t>Controllers/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PaymentsController.cs</a:t>
            </a:r>
            <a:br/>
            <a:r>
              <a:t>WebhookSubscriptionsController.cs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B82F6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804672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600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REST-API Endpunkte mit Content Negotiation (JSON/XML/CSV)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228600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14600"/>
            <a:ext cx="50800" cy="9144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87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Formatters/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CsvInputFormatter.cs</a:t>
            </a:r>
            <a:br/>
            <a:r>
              <a:t>CsvOutputFormatter.cs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6B6D4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514600"/>
            <a:ext cx="804672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743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Custom Format-Handler für CSV Input und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228600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5080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30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Services/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PaymentRepository.cs</a:t>
            </a:r>
            <a:br/>
            <a:r>
              <a:t>WebhookService.cs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0B981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3657600"/>
            <a:ext cx="804672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3886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Geschaeftslogik, Datenzugriff &amp; Webhook-Benachrichtigungen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00600"/>
            <a:ext cx="228600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800600"/>
            <a:ext cx="5080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73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Models/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12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Payment.cs</a:t>
            </a:r>
            <a:br/>
            <a:r>
              <a:t>WebhookSubscription.cs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9E0B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4800600"/>
            <a:ext cx="8046720" cy="9144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39" y="5029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Datenmodelle (Payment, WebhookSubscription)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8/22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Domain Driven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Bounded Contexts &amp; Beziehungsmuster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447" y="1371600"/>
            <a:ext cx="2011680" cy="23774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447" y="1371600"/>
            <a:ext cx="201168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167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Segoe UI"/>
              </a:defRPr>
            </a:pPr>
            <a:r>
              <a:t>Gateway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19659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MeiShop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2926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UI, Routing,</a:t>
            </a:r>
            <a:br/>
            <a:r>
              <a:t>Aggregation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49727" y="1371600"/>
            <a:ext cx="2011680" cy="23774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49727" y="1371600"/>
            <a:ext cx="201168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5447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Catalog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447" y="19659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ProductService</a:t>
            </a:r>
            <a:br/>
            <a:r>
              <a:t>FtpCatalog</a:t>
            </a:r>
            <a:br/>
            <a:r>
              <a:t>ODataService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447" y="2926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Produktverwaltung</a:t>
            </a:r>
            <a:br/>
            <a:r>
              <a:t>&amp; -abfrage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0007" y="1371600"/>
            <a:ext cx="2011680" cy="23774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90007" y="1371600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5727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Payment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5727" y="19659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PaymentService</a:t>
            </a:r>
            <a:br/>
            <a:r>
              <a:t>CreditCardSvc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5727" y="2926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Zahlungs-</a:t>
            </a:r>
            <a:br/>
            <a:r>
              <a:t>verarbeitung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0287" y="1371600"/>
            <a:ext cx="2011680" cy="23774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30287" y="1371600"/>
            <a:ext cx="201168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6007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Order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6007" y="19659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OrderSaga</a:t>
            </a:r>
            <a:br/>
            <a:r>
              <a:t>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6007" y="2926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Bestell-</a:t>
            </a:r>
            <a:br/>
            <a:r>
              <a:t>orchestration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70567" y="1371600"/>
            <a:ext cx="2011680" cy="237744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70567" y="1371600"/>
            <a:ext cx="201168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6287" y="1508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6287" y="19659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1F5F9"/>
                </a:solidFill>
                <a:latin typeface="Segoe UI"/>
              </a:defRPr>
            </a:pPr>
            <a:r>
              <a:t>LoggingService</a:t>
            </a:r>
            <a:br/>
            <a:r>
              <a:t>Consul</a:t>
            </a:r>
            <a:br/>
            <a:r>
              <a:t>WebhookSub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6287" y="2926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Querschnitts-</a:t>
            </a:r>
            <a:br/>
            <a:r>
              <a:t>belange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48640" y="4023360"/>
          <a:ext cx="1109441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51215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DDD-Konzept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Einsatz im Projekt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Open Host Service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ProductService, PaymentService -- stabile oeffentliche APIs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Customer/Supplier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MeiShop konsumiert Backend-Services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Anticorruption Layer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OrderSagaService &lt;-&gt; ProductService, PaymentService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Conformist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WebhookSubscriber übernimmt Format 1:1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Shared Kernel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Bewusst NICHT eingesetzt -- maximale Unabhaengigkeit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9/22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Implementierte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Architekturelle Entscheidungen &amp; Patterns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6017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5973775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Beschreibung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API Gateway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MeiShop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Zentraler Einstiegspunkt, routet zu Backend-Services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Service Discovery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Alle -&gt; Consul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Dynamische Service-Lokalisierung via Consul HTTP API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Round-Robin LB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MeiShop -&gt; CreditCard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Verteilt Anfragen gleichmaessig auf 3 Instanzen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Retry / Backoff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MeiShop (Polly)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Automatisches Wiederholen bei transienten Fehlern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Content Negotiation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PaymentService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JSON, XML, CSV via Accept/Content-Type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Webhook Pub/Sub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PaymentSvc -&gt; WebhookSub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Event-Benachrichtigung bei Payment-Erstellung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SAGA Orchestration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OrderSagaService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Verteilte Transaktion mit Compensating Transactions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Decentralized Data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Alle Services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Jeder Service hat eigenen In-Memory-Datastore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Design for Failure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CreditCard + MeiShop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Simulierte Fehler + Retry + Fallback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Multi-Instance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IEGEasyCreditCard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3 Instanzen auf verschiedenen Ports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10/22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Skalierung &amp;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Design for Failure -- IEGEasyCreditCardService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1463040"/>
            <a:ext cx="1920240" cy="10972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167" y="1600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MeiShop</a:t>
            </a:r>
            <a:br/>
            <a:r>
              <a:t>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5407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B82F6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5447" y="1463040"/>
            <a:ext cx="1920240" cy="10972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5447" y="1600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Round Robin</a:t>
            </a:r>
            <a:br/>
            <a:r>
              <a:t>Load Balancer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5687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6B6D4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5727" y="1463040"/>
            <a:ext cx="1920240" cy="10972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5727" y="1600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Instanz 7231</a:t>
            </a:r>
            <a:br/>
            <a:r>
              <a:t>Fehler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5967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4444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6007" y="1463040"/>
            <a:ext cx="1920240" cy="10972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6007" y="1600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Polly Retry</a:t>
            </a:r>
            <a:br/>
            <a:r>
              <a:t>(Exp. Backoff)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6247" y="17373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59E0B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16287" y="1463040"/>
            <a:ext cx="1920240" cy="109728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6287" y="16002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5F9"/>
                </a:solidFill>
                <a:latin typeface="Segoe UI"/>
              </a:defRPr>
            </a:pPr>
            <a:r>
              <a:t>Instanz 7232</a:t>
            </a:r>
            <a:br/>
            <a:r>
              <a:t>Erfolg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Konfiguration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- 3 Instanzen: Ports 7231, 7232, 7233 -- Consul-Registration mit eindeutiger ID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- Polly Retry: 4 Versuche pro Instanz mit exponentiellem Backoff (2s -&gt; 4s -&gt; 8s -&gt; 16s)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- Failover: Nach 4 Fehlern -&gt; naechste Instanz im Round-Robin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- gRPC Logging: Jeder Fehler wird an LoggingService gesendet (fire-and-forget)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- Fehlersimulation: Zufaellige Fehlerrate im CreditCardService für Demo-Zwecke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11/22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SAGA Pattern -- OrderSagaService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Verteilte Transaktionen mit Compensating 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047" y="1371600"/>
            <a:ext cx="3200400" cy="11887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9487" y="14630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1. Reserve</a:t>
            </a:r>
            <a:br/>
            <a:r>
              <a:t>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487" y="2148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-&gt; ProductService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3807" y="2834640"/>
            <a:ext cx="2468880" cy="731520"/>
          </a:xfrm>
          <a:prstGeom prst="roundRect">
            <a:avLst/>
          </a:prstGeom>
          <a:solidFill>
            <a:srgbClr val="2D151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3807" y="28803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Kompensation:</a:t>
            </a:r>
            <a:br/>
            <a:r>
              <a:t>Unreserve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8447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B981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647" y="1371600"/>
            <a:ext cx="3200400" cy="11887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7087" y="14630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9E0B"/>
                </a:solidFill>
                <a:latin typeface="Segoe UI"/>
              </a:defRPr>
            </a:pPr>
            <a:r>
              <a:t>2. Process</a:t>
            </a:r>
            <a:br/>
            <a:r>
              <a:t>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087" y="2148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-&gt; PaymentService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61407" y="2834640"/>
            <a:ext cx="2468880" cy="731520"/>
          </a:xfrm>
          <a:prstGeom prst="roundRect">
            <a:avLst/>
          </a:prstGeom>
          <a:solidFill>
            <a:srgbClr val="2D151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1407" y="28803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Kompensation:</a:t>
            </a:r>
            <a:br/>
            <a:r>
              <a:t>Refund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6047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59E0B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3247" y="1371600"/>
            <a:ext cx="3200400" cy="1188720"/>
          </a:xfrm>
          <a:prstGeom prst="roundRect">
            <a:avLst/>
          </a:prstGeom>
          <a:solidFill>
            <a:srgbClr val="1A253C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4687" y="14630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B82F6"/>
                </a:solidFill>
                <a:latin typeface="Segoe UI"/>
              </a:defRPr>
            </a:pPr>
            <a:r>
              <a:t>3. Confirm</a:t>
            </a:r>
            <a:br/>
            <a:r>
              <a:t>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687" y="2148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-&gt; OrderSagaService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19007" y="2834640"/>
            <a:ext cx="2468880" cy="731520"/>
          </a:xfrm>
          <a:prstGeom prst="roundRect">
            <a:avLst/>
          </a:prstGeom>
          <a:solidFill>
            <a:srgbClr val="2D1515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19007" y="28803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Kompensation:</a:t>
            </a:r>
            <a:br/>
            <a:r>
              <a:t>Cancel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State Machine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327" y="4114800"/>
            <a:ext cx="2377440" cy="457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327" y="41422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9767" y="4114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35527" y="4114800"/>
            <a:ext cx="2377440" cy="457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35527" y="41422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Segoe UI"/>
              </a:defRPr>
            </a:pPr>
            <a:r>
              <a:t>ProductsReserved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2967" y="4114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8727" y="4114800"/>
            <a:ext cx="2377440" cy="457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8727" y="41422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9E0B"/>
                </a:solidFill>
                <a:latin typeface="Segoe UI"/>
              </a:defRPr>
            </a:pPr>
            <a:r>
              <a:t>PaymentProcessed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6167" y="4114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21927" y="4114800"/>
            <a:ext cx="2377440" cy="457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21927" y="41422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Segoe UI"/>
              </a:defRPr>
            </a:pPr>
            <a:r>
              <a:t>Confirmed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35527" y="4846320"/>
            <a:ext cx="2377440" cy="457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35527" y="48737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Failed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12967" y="4846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78727" y="4846320"/>
            <a:ext cx="2377440" cy="4572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78727" y="48737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Compensated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12/22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Content Negotiation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PaymentService -- JSON, XML &amp; 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327" y="1371600"/>
            <a:ext cx="329184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327" y="1371600"/>
            <a:ext cx="32918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3767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  <a:latin typeface="Segoe UI"/>
              </a:defRPr>
            </a:pPr>
            <a:r>
              <a:t>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6647" y="2011680"/>
            <a:ext cx="27432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6647" y="2029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B82F6"/>
                </a:solidFill>
                <a:latin typeface="Segoe UI"/>
              </a:defRPr>
            </a:pPr>
            <a:r>
              <a:t>application/json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9487" y="2560320"/>
            <a:ext cx="3017520" cy="2926080"/>
          </a:xfrm>
          <a:prstGeom prst="roundRect">
            <a:avLst/>
          </a:prstGeom>
          <a:solidFill>
            <a:srgbClr val="0D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0927" y="26517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{</a:t>
            </a:r>
            <a:br/>
            <a:r>
              <a:t xml:space="preserve">  "Id": 1,</a:t>
            </a:r>
            <a:br/>
            <a:r>
              <a:t xml:space="preserve">  "Amount": 49.99,</a:t>
            </a:r>
            <a:br/>
            <a:r>
              <a:t xml:space="preserve">  "Currency": "EUR",</a:t>
            </a:r>
            <a:br/>
            <a:r>
              <a:t xml:space="preserve">  "Description": "Order",</a:t>
            </a:r>
            <a:br/>
            <a:r>
              <a:t xml:space="preserve">  "PaymentMethod": "Card"</a:t>
            </a:r>
            <a:br/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9927" y="1371600"/>
            <a:ext cx="329184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9927" y="1371600"/>
            <a:ext cx="329184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1367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XML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24247" y="2011680"/>
            <a:ext cx="27432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4247" y="2029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0B981"/>
                </a:solidFill>
                <a:latin typeface="Segoe UI"/>
              </a:defRPr>
            </a:pPr>
            <a:r>
              <a:t>application/xml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87087" y="2560320"/>
            <a:ext cx="3017520" cy="2926080"/>
          </a:xfrm>
          <a:prstGeom prst="roundRect">
            <a:avLst/>
          </a:prstGeom>
          <a:solidFill>
            <a:srgbClr val="0D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8527" y="26517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&lt;Payment&gt;</a:t>
            </a:r>
            <a:br/>
            <a:r>
              <a:t xml:space="preserve">  &lt;Id&gt;1&lt;/Id&gt;</a:t>
            </a:r>
            <a:br/>
            <a:r>
              <a:t xml:space="preserve">  &lt;Amount&gt;49.99&lt;/Amount&gt;</a:t>
            </a:r>
            <a:br/>
            <a:r>
              <a:t xml:space="preserve">  &lt;Currency&gt;EUR&lt;/Currency&gt;</a:t>
            </a:r>
            <a:br/>
            <a:r>
              <a:t xml:space="preserve">  &lt;Description&gt;Order</a:t>
            </a:r>
            <a:br/>
            <a:r>
              <a:t xml:space="preserve">  &lt;/Description&gt;</a:t>
            </a:r>
            <a:br/>
            <a:r>
              <a:t xml:space="preserve">  &lt;PaymentMethod&gt;Card</a:t>
            </a:r>
            <a:br/>
            <a:r>
              <a:t xml:space="preserve">  &lt;/PaymentMethod&gt;</a:t>
            </a:r>
            <a:br/>
            <a:r>
              <a:t>&lt;/Payment&gt;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7527" y="1371600"/>
            <a:ext cx="329184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7527" y="1371600"/>
            <a:ext cx="329184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8967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Segoe UI"/>
              </a:defRPr>
            </a:pPr>
            <a:r>
              <a:t>CSV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1847" y="2011680"/>
            <a:ext cx="2743200" cy="3200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1847" y="2029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9E0B"/>
                </a:solidFill>
                <a:latin typeface="Segoe UI"/>
              </a:defRPr>
            </a:pPr>
            <a:r>
              <a:t>text/csv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44687" y="2560320"/>
            <a:ext cx="3017520" cy="2926080"/>
          </a:xfrm>
          <a:prstGeom prst="roundRect">
            <a:avLst/>
          </a:prstGeom>
          <a:solidFill>
            <a:srgbClr val="0D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6127" y="26517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Id,Amount,Currency,</a:t>
            </a:r>
            <a:br/>
            <a:r>
              <a:t>Description,PaymentMethod,</a:t>
            </a:r>
            <a:br/>
            <a:r>
              <a:t>CreatedAt</a:t>
            </a:r>
            <a:br/>
            <a:r>
              <a:t>1,49.99,EUR,</a:t>
            </a:r>
            <a:br/>
            <a:r>
              <a:t>Order,Card,</a:t>
            </a:r>
            <a:br/>
            <a:r>
              <a:t>2026-06-08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13/22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OData v4 -- ProductODataService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Standardisierte Abfrage-Syntax für Produkte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OData (Open Data Protocol) ermöglicht SQL-aehnliche Abfragen über REST. Der ProductODataService bietet $filter, $orderby, $top, $skip, $select und $count.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09441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51215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Abfrage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8B5C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Alle Produkte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/odata/Products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Preis &gt; 500 EUR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/odata/Products?$filter=Price gt 500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Top 5 teuerste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/odata/Products?$orderby=Price desc&amp;$top=5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Nur Laptops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/odata/Products?$filter=Category eq 'Laptops'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Name + Preis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/odata/Products?$select=Name,Price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Mit Anzahl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/odata/Products?$count=true&amp;$top=3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Projektbezug most wanTED: OData kann dazu verwendet werden, die Ergebnisse abgegebener Fragebogen generisch über ein SQL-aehnliches Abfrageinterface bereitzustellen.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14/22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Zentrales Logging -- gRPC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LoggingService mit Protocol Buffers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Protobuf-Definition (logging.proto)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029200" cy="4114800"/>
          </a:xfrm>
          <a:prstGeom prst="roundRect">
            <a:avLst/>
          </a:prstGeom>
          <a:solidFill>
            <a:srgbClr val="0D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service LoggingGrpcService {</a:t>
            </a:r>
            <a:br/>
            <a:r>
              <a:t xml:space="preserve">  rpc LogError (LogEntry)</a:t>
            </a:r>
            <a:br/>
            <a:r>
              <a:t xml:space="preserve">      returns (LogResponse);</a:t>
            </a:r>
            <a:br/>
            <a:r>
              <a:t xml:space="preserve">  rpc GetLogs (LogFilter)</a:t>
            </a:r>
            <a:br/>
            <a:r>
              <a:t xml:space="preserve">      returns (stream LogEntry);</a:t>
            </a:r>
            <a:br/>
            <a:r>
              <a:t>}</a:t>
            </a:r>
            <a:br/>
            <a:br/>
            <a:r>
              <a:t>message LogEntry {</a:t>
            </a:r>
            <a:br/>
            <a:r>
              <a:t xml:space="preserve">  string timestamp = 1;</a:t>
            </a:r>
            <a:br/>
            <a:r>
              <a:t xml:space="preserve">  string service_name = 2;</a:t>
            </a:r>
            <a:br/>
            <a:r>
              <a:t xml:space="preserve">  string instance_url = 3;</a:t>
            </a:r>
            <a:br/>
            <a:r>
              <a:t xml:space="preserve">  string error_message = 4;</a:t>
            </a:r>
            <a:br/>
            <a:r>
              <a:t xml:space="preserve">  string http_status_code = 5;</a:t>
            </a:r>
            <a:br/>
            <a:r>
              <a:t xml:space="preserve">  int32 retry_attempt = 6;</a:t>
            </a:r>
            <a:br/>
            <a:r>
              <a:t xml:space="preserve">  string correlation_id = 7;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716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Vorteile von gRPC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737360"/>
            <a:ext cx="566928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8105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Performant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Binaeres Protobuf-Format statt</a:t>
            </a:r>
            <a:br/>
            <a:r>
              <a:t>textbasiertem JSON -- kleiner &amp; schneller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788920"/>
            <a:ext cx="566928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8620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Typisiert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154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Code-Generierung aus .proto-Dateien</a:t>
            </a:r>
            <a:br/>
            <a:r>
              <a:t>-&gt; compile-time Sicherheit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840479"/>
            <a:ext cx="566928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91363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Streaming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20623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Server-Streaming für</a:t>
            </a:r>
            <a:br/>
            <a:r>
              <a:t>Echtzeit-Log-Abfragen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892040"/>
            <a:ext cx="5669280" cy="9144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49651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Fire &amp; Forget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2578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Logging-Fehler blockieren</a:t>
            </a:r>
            <a:br/>
            <a:r>
              <a:t>nicht den Hauptprozess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15/22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Webhook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Event-basierte Benachrichtigungen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1371600"/>
            <a:ext cx="256032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3727" y="1371600"/>
            <a:ext cx="256032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167" y="155448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3B82F6"/>
                </a:solidFill>
                <a:latin typeface="Segoe UI"/>
              </a:defRPr>
            </a:pPr>
            <a:r>
              <a:t>1. Subscribe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2103120"/>
            <a:ext cx="2377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WebhookSubscriber</a:t>
            </a:r>
            <a:br/>
            <a:r>
              <a:t>registriert Callback-URL</a:t>
            </a:r>
            <a:br/>
            <a:r>
              <a:t>beim PaymentService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8367" y="1371600"/>
            <a:ext cx="256032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98367" y="1371600"/>
            <a:ext cx="256032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9807" y="155448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59E0B"/>
                </a:solidFill>
                <a:latin typeface="Segoe UI"/>
              </a:defRPr>
            </a:pPr>
            <a:r>
              <a:t>2.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9807" y="2103120"/>
            <a:ext cx="2377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Neues Payment wird</a:t>
            </a:r>
            <a:br/>
            <a:r>
              <a:t>erstellt (POST)</a:t>
            </a:r>
            <a:br/>
            <a:r>
              <a:t>-&gt; Event ausgeloest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371600"/>
            <a:ext cx="256032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371600"/>
            <a:ext cx="25603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447" y="155448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0B981"/>
                </a:solidFill>
                <a:latin typeface="Segoe UI"/>
              </a:defRPr>
            </a:pPr>
            <a:r>
              <a:t>3. Notify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103120"/>
            <a:ext cx="2377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PaymentService sendet</a:t>
            </a:r>
            <a:br/>
            <a:r>
              <a:t>HTTP POST mit Payload</a:t>
            </a:r>
            <a:br/>
            <a:r>
              <a:t>an alle Subscriber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7647" y="1371600"/>
            <a:ext cx="2560320" cy="22860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7647" y="1371600"/>
            <a:ext cx="256032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9087" y="155448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8B5CF6"/>
                </a:solidFill>
                <a:latin typeface="Segoe UI"/>
              </a:defRPr>
            </a:pPr>
            <a:r>
              <a:t>4.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9087" y="2103120"/>
            <a:ext cx="2377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WebhookSubscriber</a:t>
            </a:r>
            <a:br/>
            <a:r>
              <a:t>verarbeitet die</a:t>
            </a:r>
            <a:br/>
            <a:r>
              <a:t>Benachrichtigung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Webhook-Payload (Beispiel)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97680"/>
            <a:ext cx="11094415" cy="1371600"/>
          </a:xfrm>
          <a:prstGeom prst="roundRect">
            <a:avLst/>
          </a:prstGeom>
          <a:solidFill>
            <a:srgbClr val="0D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8912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onsolas"/>
              </a:defRPr>
            </a:pPr>
            <a:r>
              <a:t>{ "EventType": "payment.created",</a:t>
            </a:r>
            <a:br/>
            <a:r>
              <a:t xml:space="preserve">  "Data": { "Id": 42, "Amount": 149.99, "Currency": "EUR" },</a:t>
            </a:r>
            <a:br/>
            <a:r>
              <a:t xml:space="preserve">  "Timestamp": "2026-06-08T10:30:00Z" 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16/22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Fachartikelanalyse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Montesi &amp; Weber (2016) -- Circuit Breakers, Discovery, API Gateways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887" y="1371600"/>
            <a:ext cx="3291840" cy="30175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887" y="1371600"/>
            <a:ext cx="329184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047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Segoe UI"/>
              </a:defRPr>
            </a:pPr>
            <a:r>
              <a:t>Circuit Breaker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047" y="21031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Verhindert kaskadierende Fehler</a:t>
            </a:r>
            <a:br/>
            <a:r>
              <a:t>zwischen Services.</a:t>
            </a:r>
            <a:br/>
            <a:br/>
            <a:r>
              <a:t>Umsetzung: Polly im MeiShop</a:t>
            </a:r>
            <a:br/>
            <a:r>
              <a:t>für CreditCard-Aufrufe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927" y="1371600"/>
            <a:ext cx="3291840" cy="30175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49927" y="1371600"/>
            <a:ext cx="32918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7087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Service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087" y="21031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Dynamische Skalierung ohne</a:t>
            </a:r>
            <a:br/>
            <a:r>
              <a:t>manuelle Konfigurationsänderungen.</a:t>
            </a:r>
            <a:br/>
            <a:br/>
            <a:r>
              <a:t>Umsetzung: HashiCorp Consul</a:t>
            </a:r>
            <a:br/>
            <a:r>
              <a:t>-- alle Services registrieren sich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8967" y="1371600"/>
            <a:ext cx="3291840" cy="30175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8967" y="1371600"/>
            <a:ext cx="329184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6127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API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6127" y="21031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Zentraler Einstiegspunkt mit</a:t>
            </a:r>
            <a:br/>
            <a:r>
              <a:t>Cross-Cutting Concerns.</a:t>
            </a:r>
            <a:br/>
            <a:br/>
            <a:r>
              <a:t>Umsetzung: MeiShop als</a:t>
            </a:r>
            <a:br/>
            <a:r>
              <a:t>Gateway + Router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11094415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Reflexion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Nutzen: Bewaehrte Lösungen für verteilte Systeme, gute .NET-Integration. Grenzen: Vernachlaessigt organisatorische Aspekte und neuere Konzepte wie Service Mesh (Istio, Linkerd).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17/22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Produktempfehlung -- SOAP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TED 8: Genehmigungsprozess mit Workflow-Engine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6607" y="1371600"/>
            <a:ext cx="192024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1417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SOAP</a:t>
            </a:r>
            <a:br/>
            <a: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2011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XML-Payload</a:t>
            </a:r>
            <a:br/>
            <a:r>
              <a:t>empfangen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6847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1167" y="1371600"/>
            <a:ext cx="192024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1167" y="1417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Validierung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1167" y="2011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Produkt pruefen</a:t>
            </a:r>
            <a:br/>
            <a:r>
              <a:t>(ProductService)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1407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5727" y="1371600"/>
            <a:ext cx="192024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5727" y="1417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Auto-Check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5727" y="2011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Preisschwelle</a:t>
            </a:r>
            <a:br/>
            <a:r>
              <a:t>pruefen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5967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0287" y="1371600"/>
            <a:ext cx="192024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0287" y="1417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Human</a:t>
            </a:r>
            <a:br/>
            <a:r>
              <a:t>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0287" y="2011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Gesellschafter</a:t>
            </a:r>
            <a:br/>
            <a:r>
              <a:t>Freigabe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0527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9E0B"/>
                </a:solidFill>
                <a:latin typeface="Segoe UI"/>
              </a:defRPr>
            </a:pPr>
            <a: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24847" y="1371600"/>
            <a:ext cx="1920240" cy="137160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4847" y="1417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Ergebnis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847" y="2011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Genehmigt oder</a:t>
            </a:r>
            <a:br/>
            <a:r>
              <a:t>Abgelehnt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32004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31089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Kriterium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BPEL (SOA)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Orchestrierung (Saga)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Choreographie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Paradigma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Zentral, SOAP/XML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Zentral, REST/gRPC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Dezentral, Events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Kopplung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Lose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Sehr lose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Fehler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XA-Transaktionen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Compensating Tx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Event-basiert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Fazit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Veraltet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Empfohlen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Für simple Flows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18/22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KI, Low-Code &amp; Visionaere Weiterentwicklung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TED 9: Zukunftsperspektiven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9496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0800" cy="2103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37760" y="1463040"/>
            <a:ext cx="731520" cy="3200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4813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  <a:latin typeface="Segoe UI"/>
              </a:defRPr>
            </a:pPr>
            <a:r>
              <a:t>3P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a) KI-Unterstützung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LLM für automatisierte Fragebogen-</a:t>
            </a:r>
            <a:br/>
            <a:r>
              <a:t>Auswertung (Sentiment-Analyse,</a:t>
            </a:r>
            <a:br/>
            <a:r>
              <a:t>Kategorisierung). Risiken:</a:t>
            </a:r>
            <a:br/>
            <a:r>
              <a:t>Halluzinationen, DSGVO.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371600"/>
            <a:ext cx="539496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371600"/>
            <a:ext cx="50800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98479" y="1463040"/>
            <a:ext cx="731520" cy="3200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79" y="14813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  <a:latin typeface="Segoe UI"/>
              </a:defRPr>
            </a:pPr>
            <a:r>
              <a:t>3P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1508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b) Low-Code / No-Code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19202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Power Automate / n8n für</a:t>
            </a:r>
            <a:br/>
            <a:r>
              <a:t>Fragebogen-Workflow.</a:t>
            </a:r>
            <a:br/>
            <a:r>
              <a:t>Vorteil: Schnelle Umsetzung.</a:t>
            </a:r>
            <a:br/>
            <a:r>
              <a:t>Nachteil: Vendor Lock-in.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539496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50800" cy="2103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60" y="3931920"/>
            <a:ext cx="731520" cy="3200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950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  <a:latin typeface="Segoe UI"/>
              </a:defRPr>
            </a:pPr>
            <a:r>
              <a:t>3P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77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c) Vision: AI-Discovery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891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ML-Modelle optimieren Routing</a:t>
            </a:r>
            <a:br/>
            <a:r>
              <a:t>und Auto-Scaling in Consul.</a:t>
            </a:r>
            <a:br/>
            <a:r>
              <a:t>Self-Healing Infrastructure</a:t>
            </a:r>
            <a:br/>
            <a:r>
              <a:t>statt manueller Konfiguration.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840480"/>
            <a:ext cx="5394960" cy="2103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3840480"/>
            <a:ext cx="50800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98479" y="3931920"/>
            <a:ext cx="731520" cy="3200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79" y="3950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1F5F9"/>
                </a:solidFill>
                <a:latin typeface="Segoe UI"/>
              </a:defRPr>
            </a:pPr>
            <a:r>
              <a:t>3P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3977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Ergaenzend: Agentic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3891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Agentic AI vs. RPA:</a:t>
            </a:r>
            <a:br/>
            <a:r>
              <a:t>RPA = regelbasiert</a:t>
            </a:r>
            <a:br/>
            <a:r>
              <a:t>Agentic AI = lernfaehig, adaptiv</a:t>
            </a:r>
            <a:br/>
            <a:r>
              <a:t>Frameworks: OpenClaw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19/22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Live-Demo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Gesamtlösung demonstrieren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02920" cy="5029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081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egoe UI"/>
              </a:defRPr>
            </a:pPr>
            <a:r>
              <a:t>Consul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Alle registrierten Services</a:t>
            </a:r>
            <a:br/>
            <a:r>
              <a:t>und Health Checks zeigen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325880"/>
            <a:ext cx="5669280" cy="640080"/>
          </a:xfrm>
          <a:prstGeom prst="roundRect">
            <a:avLst/>
          </a:prstGeom>
          <a:solidFill>
            <a:srgbClr val="0D111E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898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http://localhost:8500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31720"/>
            <a:ext cx="502920" cy="50292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682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MeiShop 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06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Produktliste aus</a:t>
            </a:r>
            <a:br/>
            <a:r>
              <a:t>ProductService + FtpService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286000"/>
            <a:ext cx="5669280" cy="640080"/>
          </a:xfrm>
          <a:prstGeom prst="roundRect">
            <a:avLst/>
          </a:prstGeom>
          <a:solidFill>
            <a:srgbClr val="0D111E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500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http://localhost:7024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91840"/>
            <a:ext cx="502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284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46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OData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Standardisierte Abfrage</a:t>
            </a:r>
            <a:br/>
            <a:r>
              <a:t>mit $filter, $orderby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246120"/>
            <a:ext cx="5669280" cy="640080"/>
          </a:xfrm>
          <a:prstGeom prst="roundRect">
            <a:avLst/>
          </a:prstGeom>
          <a:solidFill>
            <a:srgbClr val="0D111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31012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localhost:7500/odata/Products</a:t>
            </a:r>
            <a:br/>
            <a:r>
              <a:t>?$filter=Price gt 500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51960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885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206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SAGA Bestellung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526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Order-Workflow mit</a:t>
            </a:r>
            <a:br/>
            <a:r>
              <a:t>Compensating Transactions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4206240"/>
            <a:ext cx="5669280" cy="640080"/>
          </a:xfrm>
          <a:prstGeom prst="roundRect">
            <a:avLst/>
          </a:prstGeom>
          <a:solidFill>
            <a:srgbClr val="0D111E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2702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POST localhost:7700</a:t>
            </a:r>
            <a:br/>
            <a:r>
              <a:t>/api/orders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12080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2486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166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Content Negotiation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Payment in JSON, XML</a:t>
            </a:r>
            <a:br/>
            <a:r>
              <a:t>oder CSV erstellen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5166360"/>
            <a:ext cx="5669280" cy="640080"/>
          </a:xfrm>
          <a:prstGeom prst="roundRect">
            <a:avLst/>
          </a:prstGeom>
          <a:solidFill>
            <a:srgbClr val="0D111E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52303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POST localhost:7400</a:t>
            </a:r>
            <a:br/>
            <a:r>
              <a:t>Accept: text/csv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21/22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Segoe UI"/>
              </a:defRPr>
            </a:pPr>
            <a:r>
              <a:t>Fazit &amp; Ausblick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0352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Erreicht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- 9 eigenstaendige Microservices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- 5 Kommunikationsprotokolle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Consul Service Discovery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SAGA Pattern mit Compensation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Content Negotiation (JSON/XML/CSV)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Round-Robin Load Balancing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Polly Retry mit Exp. Backoff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gRPC Logging-Infrastruktur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Webhook Event-System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OData v4 Abfrage-Interface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03520" cy="43891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30352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Ausblick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Containerisierung (Docker)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Service Mesh (Istio/Linkerd)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Async Messaging (RabbitMQ)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KI-gestuetzte Observability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AI-Driven Auto-Scaling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Secrets Management (Vault)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CI/CD Pipeline</a:t>
            </a:r>
          </a:p>
          <a:p>
            <a:pPr>
              <a:spcAft>
                <a:spcPts val="5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- End-to-End Tracing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Vielen Dank für Ihre Aufmerksamkeit!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22/22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Bearbeitete Aufgaben &amp; TED-Themen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Was wir im Projekt umgesetzt und ausgearbeitet haben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274320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Aufgabe / TED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Punkte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Typ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Inhalt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Aufgabe 8 -- OData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Impl + Doku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Standardisierte Produktabfragen (OData)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Aufgabe 9 -- SAGA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Impl + Doku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Verteilte Transaktionen + Kompensation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Aufgabe 10 -- Open Data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Doku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Offene Daten &amp; Anwendungsfälle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TED 1 -- Fachartikel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Theorie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Montesi &amp; Weber (2016)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TED 2 -- Architektur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Theorie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Makro- &amp; Mikro-Ebene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TED 3 -- DDD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Theorie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Bounded Contexts &amp; Aggregate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TED 8 -- SOAP/Workflow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Konzept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Workflow-Engine &amp; BPEL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TED 9 -- KI &amp; Low-Code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Theorie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KI-Assistenz, Agentic AI, Vision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TED 10 -- Präsentation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Gemeinsam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Diese Präsentation &amp; Doku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TED 11 -- Gesamtlösung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 + 5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Impl + Bonus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Lauffähiges Gesamtsystem + Bonus Saga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73152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Segoe UI"/>
              </a:defRPr>
            </a:pPr>
            <a:r>
              <a:t>Open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046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Offene Daten -- Prinzipien und Anwendungsfälle (Aufgabe 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887" y="1371600"/>
            <a:ext cx="3291840" cy="30175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887" y="1371600"/>
            <a:ext cx="329184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047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  <a:latin typeface="Segoe UI"/>
              </a:defRPr>
            </a:pPr>
            <a: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047" y="21031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Frei zugaenglich und</a:t>
            </a:r>
            <a:br/>
            <a:r>
              <a:t>maschinenlesbar.</a:t>
            </a:r>
            <a:br/>
            <a:br/>
            <a:r>
              <a:t>Lizenzfrei und diskri-</a:t>
            </a:r>
            <a:br/>
            <a:r>
              <a:t>minierungsfrei nutzbar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927" y="1371600"/>
            <a:ext cx="3291840" cy="30175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49927" y="1371600"/>
            <a:ext cx="329184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7087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Konsument (Inbound)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087" y="21031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Fremde offene Daten nutzen</a:t>
            </a:r>
            <a:br/>
            <a:r>
              <a:t>(Geo-, Markt-, Wetterdaten).</a:t>
            </a:r>
            <a:br/>
            <a:br/>
            <a:r>
              <a:t>Use Cases: Logistik, Pricing,</a:t>
            </a:r>
            <a:br/>
            <a:r>
              <a:t>Betrugspraevention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8967" y="1371600"/>
            <a:ext cx="3291840" cy="30175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8967" y="1371600"/>
            <a:ext cx="329184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6127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Bereitsteller (Outbound)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6127" y="21031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Eigene Daten offen anbieten</a:t>
            </a:r>
            <a:br/>
            <a:r>
              <a:t>über offene APIs.</a:t>
            </a:r>
            <a:br/>
            <a:br/>
            <a:r>
              <a:t>Use Cases: Preis-Monitoring,</a:t>
            </a:r>
            <a:br/>
            <a:r>
              <a:t>Nachhaltigkeitsdaten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11094415" cy="1188720"/>
          </a:xfrm>
          <a:prstGeom prst="roundRect">
            <a:avLst/>
          </a:prstGeom>
          <a:solidFill>
            <a:srgbClr val="1A253C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Projektbezug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Unser ProductODataService stellt den Produktkatalog standardisiert und maschinenlesbar (OData v4) bereit -- die technische Grundlage, um Produktdaten als Open Data nach aussen zu öffnen.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263640"/>
            <a:ext cx="11094415" cy="127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most wanTED -- FH Campus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20/22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