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1F5F9"/>
                </a:solidFill>
                <a:latin typeface="Segoe UI"/>
              </a:defRPr>
            </a:pPr>
            <a:r>
              <a:t>most wanTED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6B6D4"/>
                </a:solidFill>
                <a:latin typeface="Segoe UI"/>
              </a:defRPr>
            </a:pPr>
            <a:r>
              <a:t>Microservice-Architektur für die Trading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383280"/>
            <a:ext cx="2743200" cy="25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Segoe UI"/>
              </a:defRPr>
            </a:pPr>
            <a:r>
              <a:t>Hans Erik Krenn  ·  Patrick Grüner  ·  Kevin Ulm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FH Campus 02 — Integrationstechnologien für eGovernment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SS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5303520"/>
            <a:ext cx="914400" cy="32004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53218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6B6D4"/>
                </a:solidFill>
                <a:latin typeface="Segoe UI"/>
              </a:defRPr>
            </a:pPr>
            <a:r>
              <a:t>.NET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5303520"/>
            <a:ext cx="914400" cy="32004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53218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6B6D4"/>
                </a:solidFill>
                <a:latin typeface="Segoe UI"/>
              </a:defRPr>
            </a:pPr>
            <a:r>
              <a:t>C#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5303520"/>
            <a:ext cx="914400" cy="32004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53218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6B6D4"/>
                </a:solidFill>
                <a:latin typeface="Segoe UI"/>
              </a:defRPr>
            </a:pPr>
            <a:r>
              <a:t>Consul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5303520"/>
            <a:ext cx="914400" cy="32004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53218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6B6D4"/>
                </a:solidFill>
                <a:latin typeface="Segoe UI"/>
              </a:defRPr>
            </a:pPr>
            <a:r>
              <a:t>gRPC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79" y="5303520"/>
            <a:ext cx="914400" cy="32004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79" y="53218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6B6D4"/>
                </a:solidFill>
                <a:latin typeface="Segoe UI"/>
              </a:defRPr>
            </a:pPr>
            <a:r>
              <a:t>OData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5303520"/>
            <a:ext cx="914400" cy="32004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53218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6B6D4"/>
                </a:solidFill>
                <a:latin typeface="Segoe UI"/>
              </a:defRPr>
            </a:pPr>
            <a:r>
              <a:t>Polly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1F5F9"/>
                </a:solidFill>
                <a:latin typeface="Segoe U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Überblick über die Präsentation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560320" cy="11887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Segoe UI"/>
              </a:defRPr>
            </a:pPr>
            <a:r>
              <a:t>Projektziel &amp; Kontext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463040"/>
            <a:ext cx="2560320" cy="11887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Segoe UI"/>
              </a:defRPr>
            </a:pPr>
            <a:r>
              <a:t>Architektur-Übersicht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2560320" cy="11887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Segoe UI"/>
              </a:defRPr>
            </a:pPr>
            <a:r>
              <a:t>Service-Landschaft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17520"/>
            <a:ext cx="2560320" cy="11887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154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5CF6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Segoe UI"/>
              </a:defRPr>
            </a:pPr>
            <a:r>
              <a:t>Kommunikationsprotokolle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3017520"/>
            <a:ext cx="2560320" cy="11887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3154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Segoe UI"/>
              </a:defRPr>
            </a:pPr>
            <a:r>
              <a:t>Domain Driven Design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017520"/>
            <a:ext cx="2560320" cy="11887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154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Segoe UI"/>
              </a:defRPr>
            </a:pPr>
            <a:r>
              <a:t>Patterns &amp; Konzepte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572000"/>
            <a:ext cx="2560320" cy="11887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709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Segoe UI"/>
              </a:defRPr>
            </a:pPr>
            <a:r>
              <a:t>Live-Demo Szenarien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4572000"/>
            <a:ext cx="2560320" cy="11887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40" y="4709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Segoe UI"/>
              </a:defRPr>
            </a:pPr>
            <a:r>
              <a:t>Vertiefungsthemen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572000"/>
            <a:ext cx="2560320" cy="11887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4709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5CF6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Segoe UI"/>
              </a:defRPr>
            </a:pPr>
            <a:r>
              <a:t>Fazit &amp; Ausblick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263640"/>
            <a:ext cx="8229600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most wanTED — FH Campus 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1F5F9"/>
                </a:solidFill>
                <a:latin typeface="Segoe UI"/>
              </a:defRPr>
            </a:pPr>
            <a:r>
              <a:t>Projektziel &amp; Kontext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Was ist "most wanTED"?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most wanTED erweitert die bestehende Handelsplattform SolTradingPlatform um eine umfragebasierte Entscheidungsunterstützung. Beteiligte — Kunden, Lieferanten, Kreditkartenunternehmen und Produzenten — werden bei Entscheidungen zu Produktauswahl, Bezahlvarianten und Liefervarianten unterstützt.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26080"/>
            <a:ext cx="1920240" cy="25603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926080"/>
            <a:ext cx="192024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Segoe UI"/>
              </a:defRPr>
            </a:pPr>
            <a:r>
              <a:t>🎓 Lehrveranstaltung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Integrationstechnologien</a:t>
            </a:r>
            <a:br/>
            <a:r>
              <a:t>für eGovernment</a:t>
            </a:r>
            <a:br/>
            <a:r>
              <a:t>FH Campus 02, Graz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39" y="2926080"/>
            <a:ext cx="1920240" cy="25603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06039" y="2926080"/>
            <a:ext cx="192024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199" y="3108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👥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199" y="356616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Hans Erik Krenn</a:t>
            </a:r>
            <a:br/>
            <a:r>
              <a:t>Patrick Grüner</a:t>
            </a:r>
            <a:br/>
            <a:r>
              <a:t>Kevin Ulm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59" y="2926080"/>
            <a:ext cx="1920240" cy="25603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09159" y="2926080"/>
            <a:ext cx="192024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19" y="3108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⚙️ Tech-Stack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19" y="356616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.NET 8 / C#</a:t>
            </a:r>
            <a:br/>
            <a:r>
              <a:t>ASP.NET Core</a:t>
            </a:r>
            <a:br/>
            <a:r>
              <a:t>Microservices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79" y="2926080"/>
            <a:ext cx="1920240" cy="25603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12279" y="2926080"/>
            <a:ext cx="192024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39" y="3108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📊 Bewertung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39" y="356616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100 Punkte regulär</a:t>
            </a:r>
            <a:br/>
            <a:r>
              <a:t>+ 5 Bonus</a:t>
            </a:r>
            <a:br/>
            <a:r>
              <a:t>= 105 möglich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263640"/>
            <a:ext cx="8229600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most wanTED — FH Campus 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1F5F9"/>
                </a:solidFill>
                <a:latin typeface="Segoe UI"/>
              </a:defRPr>
            </a:pPr>
            <a:r>
              <a:t>Makro-Architektur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Service-Landschaft &amp; Kommunikationsbeziehungen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280160"/>
            <a:ext cx="2194560" cy="54864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0" y="131673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Segoe UI"/>
              </a:defRPr>
            </a:pPr>
            <a:r>
              <a:t>🌐 Browser /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28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B82F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2148840"/>
            <a:ext cx="4023360" cy="640080"/>
          </a:xfrm>
          <a:prstGeom prst="roundRect">
            <a:avLst/>
          </a:prstGeom>
          <a:solidFill>
            <a:srgbClr val="1E3A5F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219456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6B6D4"/>
                </a:solidFill>
                <a:latin typeface="Segoe UI"/>
              </a:defRPr>
            </a:pPr>
            <a:r>
              <a:t>MeiShop — API Gateway (Port 7024)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200400"/>
            <a:ext cx="1280160" cy="100584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329184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1F5F9"/>
                </a:solidFill>
                <a:latin typeface="Segoe UI"/>
              </a:defRPr>
            </a:pPr>
            <a:r>
              <a:t>ProductService</a:t>
            </a:r>
            <a:br/>
            <a:r>
              <a:t>:7200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91640" y="3200400"/>
            <a:ext cx="1280160" cy="100584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329184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1F5F9"/>
                </a:solidFill>
                <a:latin typeface="Segoe UI"/>
              </a:defRPr>
            </a:pPr>
            <a:r>
              <a:t>FtpCatalog</a:t>
            </a:r>
            <a:br/>
            <a:r>
              <a:t>:7300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3200400"/>
            <a:ext cx="1280160" cy="100584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0" y="329184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1F5F9"/>
                </a:solidFill>
                <a:latin typeface="Segoe UI"/>
              </a:defRPr>
            </a:pPr>
            <a:r>
              <a:t>CreditCard</a:t>
            </a:r>
            <a:br/>
            <a:r>
              <a:t>:7231-33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3200400"/>
            <a:ext cx="1280160" cy="100584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29184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1F5F9"/>
                </a:solidFill>
                <a:latin typeface="Segoe UI"/>
              </a:defRPr>
            </a:pPr>
            <a:r>
              <a:t>PaymentSvc</a:t>
            </a:r>
            <a:br/>
            <a:r>
              <a:t>:7400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3200400"/>
            <a:ext cx="1280160" cy="100584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329184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1F5F9"/>
                </a:solidFill>
                <a:latin typeface="Segoe UI"/>
              </a:defRPr>
            </a:pPr>
            <a:r>
              <a:t>ODataSvc</a:t>
            </a:r>
            <a:br/>
            <a:r>
              <a:t>:7500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3200400"/>
            <a:ext cx="1280160" cy="100584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329184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1F5F9"/>
                </a:solidFill>
                <a:latin typeface="Segoe UI"/>
              </a:defRPr>
            </a:pPr>
            <a:r>
              <a:t>SagaSvc</a:t>
            </a:r>
            <a:br/>
            <a:r>
              <a:t>:7700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754880"/>
            <a:ext cx="2651760" cy="5029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8006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B82F6"/>
                </a:solidFill>
                <a:latin typeface="Segoe UI"/>
              </a:defRPr>
            </a:pPr>
            <a:r>
              <a:t>Consul — Service Discovery (:8500)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4754880"/>
            <a:ext cx="2651760" cy="5029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0" y="48006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6B6D4"/>
                </a:solidFill>
                <a:latin typeface="Segoe UI"/>
              </a:defRPr>
            </a:pPr>
            <a:r>
              <a:t>LoggingService — gRPC (:5500)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4754880"/>
            <a:ext cx="2651760" cy="5029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48006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WebhookSubscriber (:7600)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577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REST/JSON  ·  gRPC/Protobuf  ·  OData v4  ·  Webhooks  ·  Content Negotiation (JSON/XML/CSV)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263640"/>
            <a:ext cx="8229600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most wanTED — FH Campus 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1F5F9"/>
                </a:solidFill>
                <a:latin typeface="Segoe UI"/>
              </a:defRPr>
            </a:pPr>
            <a:r>
              <a:t>Service-Übersicht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Alle Microservices im Überblick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2011680"/>
                <a:gridCol w="329184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Port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Protokoll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Beschreibung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MeiShop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7024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REST (MVC)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Frontend / API Gateway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ProductService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7200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REST (JSON)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Produktverwaltung (CRUD)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FtpProductCatalog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7300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REST (JSON)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Produkte aus Textdatei (FTP)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IEGEasyCreditCard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7231–33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REST (JSON)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Kreditkarte (3 Instanzen)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PaymentService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7400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REST (JSON/XML/CSV)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Payment + Content Negotiation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LoggingService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5500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gRPC (Protobuf)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Zentrales Logging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ProductODataService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7500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OData v4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Standardisierte Abfragen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WebhookSubscriber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7600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REST (JSON)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Webhook-Empfänger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OrderSagaService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7700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REST (JSON)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SAGA-Orchestrator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Consul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8500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HTTP API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Service Discovery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6263640"/>
            <a:ext cx="8229600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most wanTED — FH Campus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1F5F9"/>
                </a:solidFill>
                <a:latin typeface="Segoe UI"/>
              </a:defRPr>
            </a:pPr>
            <a:r>
              <a:t>Kommunikationsprotokolle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Wie kommunizieren die Services?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463040"/>
            <a:ext cx="1600200" cy="43891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16002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4592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REST / HTTP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77440"/>
            <a:ext cx="1234440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1234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B82F6"/>
                </a:solidFill>
                <a:latin typeface="Segoe UI"/>
              </a:defRPr>
            </a:pPr>
            <a:r>
              <a:t>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91840"/>
            <a:ext cx="1417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Primäre Service-zu-Service</a:t>
            </a:r>
            <a:br/>
            <a:r>
              <a:t>Kommunikation. Standard</a:t>
            </a:r>
            <a:br/>
            <a:r>
              <a:t>ASP.NET Core Controller.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79" y="1463040"/>
            <a:ext cx="1600200" cy="43891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11679" y="1463040"/>
            <a:ext cx="16002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19" y="164592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gRPC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59" y="2377440"/>
            <a:ext cx="1234440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59" y="2423160"/>
            <a:ext cx="1234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6B6D4"/>
                </a:solidFill>
                <a:latin typeface="Segoe UI"/>
              </a:defRPr>
            </a:pPr>
            <a:r>
              <a:t>Protobuf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19" y="3291840"/>
            <a:ext cx="1417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Binäres Protokoll für</a:t>
            </a:r>
            <a:br/>
            <a:r>
              <a:t>effizientes Logging.</a:t>
            </a:r>
            <a:br/>
            <a:r>
              <a:t>Hoher Durchsatz.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39" y="1463040"/>
            <a:ext cx="1600200" cy="43891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49039" y="1463040"/>
            <a:ext cx="16002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79" y="164592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OData v4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31919" y="2377440"/>
            <a:ext cx="1234440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19" y="2423160"/>
            <a:ext cx="1234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Segoe UI"/>
              </a:defRPr>
            </a:pPr>
            <a:r>
              <a:t>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79" y="3291840"/>
            <a:ext cx="1417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SQL-ähnliche Abfragen:</a:t>
            </a:r>
            <a:br/>
            <a:r>
              <a:t>$filter, $orderby, $top</a:t>
            </a:r>
            <a:br/>
            <a:r>
              <a:t>$skip, $select, $count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399" y="1463040"/>
            <a:ext cx="1600200" cy="43891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399" y="1463040"/>
            <a:ext cx="16002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39" y="164592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Webhooks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79" y="2377440"/>
            <a:ext cx="1234440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79" y="2423160"/>
            <a:ext cx="1234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59E0B"/>
                </a:solidFill>
                <a:latin typeface="Segoe UI"/>
              </a:defRPr>
            </a:pPr>
            <a:r>
              <a:t>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39" y="3291840"/>
            <a:ext cx="1417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Event-basierte Push-</a:t>
            </a:r>
            <a:br/>
            <a:r>
              <a:t>Benachrichtigungen bei</a:t>
            </a:r>
            <a:br/>
            <a:r>
              <a:t>Produktänderungen.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23759" y="1463040"/>
            <a:ext cx="1600200" cy="43891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23759" y="1463040"/>
            <a:ext cx="16002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199" y="164592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5CF6"/>
                </a:solidFill>
                <a:latin typeface="Segoe UI"/>
              </a:defRPr>
            </a:pPr>
            <a:r>
              <a:t>Content</a:t>
            </a:r>
            <a:br/>
            <a:r>
              <a:t>Negotiation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39" y="2377440"/>
            <a:ext cx="1234440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39" y="2423160"/>
            <a:ext cx="1234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5CF6"/>
                </a:solidFill>
                <a:latin typeface="Segoe UI"/>
              </a:defRPr>
            </a:pPr>
            <a:r>
              <a:t>JSON</a:t>
            </a:r>
            <a:br/>
            <a:r>
              <a:t>XML</a:t>
            </a:r>
            <a:br/>
            <a:r>
              <a:t>CSV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199" y="3291840"/>
            <a:ext cx="1417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Format-Auswahl über</a:t>
            </a:r>
            <a:br/>
            <a:r>
              <a:t>HTTP Accept/Content-Type</a:t>
            </a:r>
            <a:br/>
            <a:r>
              <a:t>Header.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263640"/>
            <a:ext cx="8229600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most wanTED — FH Campus 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1F5F9"/>
                </a:solidFill>
                <a:latin typeface="Segoe UI"/>
              </a:defRPr>
            </a:pPr>
            <a:r>
              <a:t>Mikro-Architektur: PaymentService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Interner Aufbau eines Microservices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645920" cy="9144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0800" cy="914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Controllers/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PaymentsController.cs</a:t>
            </a:r>
            <a:br/>
            <a:r>
              <a:t>WebhookSubscriptionsController.cs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554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B82F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1371600"/>
            <a:ext cx="5943600" cy="9144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50876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REST-API Endpunkte</a:t>
            </a:r>
            <a:br/>
            <a:r>
              <a:t>Content Negotiation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60320"/>
            <a:ext cx="1645920" cy="9144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50800" cy="9144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6517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Formatters/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9718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CsvInputFormatter.cs</a:t>
            </a:r>
            <a:br/>
            <a:r>
              <a:t>CsvOutputFormatter.cs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27432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6B6D4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51760" y="2560320"/>
            <a:ext cx="5943600" cy="9144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8920" y="269748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Custom Format-Handler</a:t>
            </a:r>
            <a:br/>
            <a:r>
              <a:t>für CSV-Daten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49039"/>
            <a:ext cx="1645920" cy="9144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749039"/>
            <a:ext cx="5080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84047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Services/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160519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PaymentRepository.cs</a:t>
            </a:r>
            <a:br/>
            <a:r>
              <a:t>WebhookService.cs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3931919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0B981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51760" y="3749039"/>
            <a:ext cx="5943600" cy="9144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88920" y="3886199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Geschäftslogik &amp;</a:t>
            </a:r>
            <a:br/>
            <a:r>
              <a:t>Datenzugriff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937760"/>
            <a:ext cx="1645920" cy="9144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937760"/>
            <a:ext cx="5080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029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Models/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3492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Payment.cs</a:t>
            </a:r>
            <a:br/>
            <a:r>
              <a:t>WebhookSubscription.cs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5120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59E0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51760" y="4937760"/>
            <a:ext cx="5943600" cy="9144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88920" y="507492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Datenmodelle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263640"/>
            <a:ext cx="8229600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most wanTED — FH Campus 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1F5F9"/>
                </a:solidFill>
                <a:latin typeface="Segoe UI"/>
              </a:defRPr>
            </a:pPr>
            <a:r>
              <a:t>Domain Driven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Bounded Contexts &amp; Beziehungsmuster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463040"/>
            <a:ext cx="1600200" cy="25603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16002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64592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Gateway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10312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1F5F9"/>
                </a:solidFill>
                <a:latin typeface="Segoe UI"/>
              </a:defRPr>
            </a:pPr>
            <a:r>
              <a:t>MeiShop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10896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UI, Routing,</a:t>
            </a:r>
            <a:br/>
            <a:r>
              <a:t>Aggregation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79" y="1463040"/>
            <a:ext cx="1600200" cy="25603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11679" y="1463040"/>
            <a:ext cx="16002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57399" y="164592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Catalog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399" y="210312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1F5F9"/>
                </a:solidFill>
                <a:latin typeface="Segoe UI"/>
              </a:defRPr>
            </a:pPr>
            <a:r>
              <a:t>ProductService</a:t>
            </a:r>
            <a:br/>
            <a:r>
              <a:t>FtpCatalog</a:t>
            </a:r>
            <a:br/>
            <a:r>
              <a:t>ODataService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399" y="310896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Produktverwaltung</a:t>
            </a:r>
            <a:br/>
            <a:r>
              <a:t>&amp; -abfrage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39" y="1463040"/>
            <a:ext cx="1600200" cy="25603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49039" y="1463040"/>
            <a:ext cx="16002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59" y="164592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Payment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59" y="210312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1F5F9"/>
                </a:solidFill>
                <a:latin typeface="Segoe UI"/>
              </a:defRPr>
            </a:pPr>
            <a:r>
              <a:t>PaymentService</a:t>
            </a:r>
            <a:br/>
            <a:r>
              <a:t>CreditCardSvc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59" y="310896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Zahlungs-</a:t>
            </a:r>
            <a:br/>
            <a:r>
              <a:t>verarbeitung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399" y="1463040"/>
            <a:ext cx="1600200" cy="25603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399" y="1463040"/>
            <a:ext cx="160020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32119" y="164592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F4444"/>
                </a:solidFill>
                <a:latin typeface="Segoe UI"/>
              </a:defRPr>
            </a:pPr>
            <a:r>
              <a:t>Order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19" y="210312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1F5F9"/>
                </a:solidFill>
                <a:latin typeface="Segoe UI"/>
              </a:defRPr>
            </a:pPr>
            <a:r>
              <a:t>OrderSaga</a:t>
            </a:r>
            <a:br/>
            <a:r>
              <a:t>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19" y="310896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Bestell-</a:t>
            </a:r>
            <a:br/>
            <a:r>
              <a:t>orchestration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59" y="1463040"/>
            <a:ext cx="1600200" cy="25603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23759" y="1463040"/>
            <a:ext cx="16002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9479" y="164592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Infrastructure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79" y="210312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1F5F9"/>
                </a:solidFill>
                <a:latin typeface="Segoe UI"/>
              </a:defRPr>
            </a:pPr>
            <a:r>
              <a:t>LoggingService</a:t>
            </a:r>
            <a:br/>
            <a:r>
              <a:t>Consul</a:t>
            </a:r>
            <a:br/>
            <a:r>
              <a:t>WebhookSub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79" y="310896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Querschnitts-</a:t>
            </a:r>
            <a:br/>
            <a:r>
              <a:t>belange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457200" y="429768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566928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DDD-Konzept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Einsatz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Open Host Service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ProductService, PaymentService — stabile öffentliche APIs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Customer/Supplier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MeiShop konsumiert Backend-Services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Anticorruption Layer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OrderSagaService ↔ ProductService, PaymentService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Conformist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WebhookSubscriber übernimmt Format 1:1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Shared Kernel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Bewusst NICHT eingesetzt — maximale Unabhängigkeit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457200" y="6263640"/>
            <a:ext cx="8229600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most wanTED — FH Campus 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1F5F9"/>
                </a:solidFill>
                <a:latin typeface="Segoe UI"/>
              </a:defRPr>
            </a:pPr>
            <a:r>
              <a:t>Implementierte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Architekturelle Entscheidungen &amp; Patterns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280160"/>
          <a:ext cx="85953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286000"/>
                <a:gridCol w="420624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Pattern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Beschreibung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API Gateway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MeiShop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Zentraler Einstiegspunkt, routet zu Backend-Services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Service Discovery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Alle → Consul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Dynamische Service-Lokalisierung via Consul HTTP API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Round-Robin LB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MeiShop → CreditCard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Verteilt Anfragen gleichmäßig auf 3 Instanzen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Retry / Backoff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MeiShop (Polly)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Automatisches Wiederholen bei transienten Fehlern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Content Negotiation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PaymentService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JSON, XML, CSV via Accept/Content-Type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Webhook Pub/Sub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ProductSvc → WebhookSub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Event-Benachrichtigung bei Produktänderungen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SAGA Orchestration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OrderSagaService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Verteilte Transaktion mit Compensating Transactions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Decentralized Data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Alle Services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Jeder Service hat eigenen In-Memory-Datastore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Design for Failure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CreditCard + MeiShop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Simulierte Fehler + Retry + Fallback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Multi-Instance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IEGEasyCreditCard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3 Instanzen auf verschiedenen Ports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6263640"/>
            <a:ext cx="8229600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most wanTED — FH Campus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1F5F9"/>
                </a:solidFill>
                <a:latin typeface="Segoe UI"/>
              </a:defRPr>
            </a:pPr>
            <a:r>
              <a:t>Skalierung &amp; 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Design for Failure — IEGEasyCreditCardService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463040"/>
            <a:ext cx="1554480" cy="109728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60020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Segoe UI"/>
              </a:defRPr>
            </a:pPr>
            <a:r>
              <a:t>MeiShop</a:t>
            </a:r>
            <a:br/>
            <a:r>
              <a:t>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7373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B82F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463040"/>
            <a:ext cx="1554480" cy="109728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60020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Segoe UI"/>
              </a:defRPr>
            </a:pPr>
            <a:r>
              <a:t>Round Robin</a:t>
            </a:r>
            <a:br/>
            <a:r>
              <a:t>Load Balancer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7373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6B6D4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1463040"/>
            <a:ext cx="1554480" cy="109728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160020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Segoe UI"/>
              </a:defRPr>
            </a:pPr>
            <a:r>
              <a:t>Instanz 7231</a:t>
            </a:r>
            <a:br/>
            <a:r>
              <a:t>❌ Fehler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17373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F4444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59" y="1463040"/>
            <a:ext cx="1554480" cy="109728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59" y="160020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Segoe UI"/>
              </a:defRPr>
            </a:pPr>
            <a:r>
              <a:t>Polly Retry</a:t>
            </a:r>
            <a:br/>
            <a:r>
              <a:t>(Exp. Backoff)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39" y="17373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59E0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1463040"/>
            <a:ext cx="1554480" cy="109728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60020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9"/>
                </a:solidFill>
                <a:latin typeface="Segoe UI"/>
              </a:defRPr>
            </a:pPr>
            <a:r>
              <a:t>Instanz 7232</a:t>
            </a:r>
            <a:br/>
            <a:r>
              <a:t>✅ Erfolg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Segoe UI"/>
              </a:defRPr>
            </a:pPr>
            <a:r>
              <a:t>Konfiguration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2918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3 Instanzen: Ports 7231, 7232, 7233 — Consul-Registration mit eindeutiger ID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Polly Retry: 4 Versuche pro Instanz mit exponentiellem Backoff (2s → 4s → 8s → 16s)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Failover: Nach 4 Fehlern → nächste Instanz im Round-Robin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gRPC Logging: Jeder Fehler wird an LoggingService gesendet (fire-and-forget)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• Fehlersimulation: 20% zufällige Fehlerrate im CreditCardService für Demo-Zwecke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263640"/>
            <a:ext cx="8229600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most wanTED — FH Campus 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1F5F9"/>
                </a:solidFill>
                <a:latin typeface="Segoe UI"/>
              </a:defRPr>
            </a:pPr>
            <a:r>
              <a:t>SAGA Pattern — OrderSagaService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Verteilte Transaktionen mit Compensating Transactions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560320" cy="11887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1. Reserve</a:t>
            </a:r>
            <a:br/>
            <a:r>
              <a:t>Products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→ ProductService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2011680" cy="731520"/>
          </a:xfrm>
          <a:prstGeom prst="roundRect">
            <a:avLst/>
          </a:prstGeom>
          <a:solidFill>
            <a:srgbClr val="2D1515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Segoe UI"/>
              </a:defRPr>
            </a:pPr>
            <a:r>
              <a:t>Kompensation:</a:t>
            </a:r>
            <a:br/>
            <a:r>
              <a:t>Unreserve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783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0B981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463040"/>
            <a:ext cx="2560320" cy="11887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554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2. Process</a:t>
            </a:r>
            <a:br/>
            <a:r>
              <a:t>Payment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240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→ PaymentService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2926080"/>
            <a:ext cx="2011680" cy="731520"/>
          </a:xfrm>
          <a:prstGeom prst="roundRect">
            <a:avLst/>
          </a:prstGeom>
          <a:solidFill>
            <a:srgbClr val="2D1515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9718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Segoe UI"/>
              </a:defRPr>
            </a:pPr>
            <a:r>
              <a:t>Kompensation:</a:t>
            </a:r>
            <a:br/>
            <a:r>
              <a:t>Refund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783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59E0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463040"/>
            <a:ext cx="2560320" cy="11887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554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  <a:latin typeface="Segoe UI"/>
              </a:defRPr>
            </a:pPr>
            <a:r>
              <a:t>3. Confirm</a:t>
            </a:r>
            <a:br/>
            <a:r>
              <a:t>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240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→ OrderSagaService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2926080"/>
            <a:ext cx="2011680" cy="731520"/>
          </a:xfrm>
          <a:prstGeom prst="roundRect">
            <a:avLst/>
          </a:prstGeom>
          <a:solidFill>
            <a:srgbClr val="2D1515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9718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Segoe UI"/>
              </a:defRPr>
            </a:pPr>
            <a:r>
              <a:t>Kompensation:</a:t>
            </a:r>
            <a:br/>
            <a:r>
              <a:t>Cancel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74903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Segoe UI"/>
              </a:defRPr>
            </a:pPr>
            <a:r>
              <a:t>State Machine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206240"/>
            <a:ext cx="1828800" cy="4572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23367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Pending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42062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06040" y="4206240"/>
            <a:ext cx="1828800" cy="4572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06040" y="423367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Segoe UI"/>
              </a:defRPr>
            </a:pPr>
            <a:r>
              <a:t>ProductsReserved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2062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0" y="4206240"/>
            <a:ext cx="1828800" cy="4572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423367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59E0B"/>
                </a:solidFill>
                <a:latin typeface="Segoe UI"/>
              </a:defRPr>
            </a:pPr>
            <a:r>
              <a:t>PaymentProcessed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2062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03720" y="4206240"/>
            <a:ext cx="1828800" cy="4572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03720" y="423367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B82F6"/>
                </a:solidFill>
                <a:latin typeface="Segoe UI"/>
              </a:defRPr>
            </a:pPr>
            <a:r>
              <a:t>Confirmed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0400" y="4937760"/>
            <a:ext cx="1828800" cy="4572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0" y="496519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Segoe UI"/>
              </a:defRPr>
            </a:pPr>
            <a:r>
              <a:t>Failed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49377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4444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49240" y="4937760"/>
            <a:ext cx="1828800" cy="4572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49240" y="496519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Segoe UI"/>
              </a:defRPr>
            </a:pPr>
            <a:r>
              <a:t>Compensated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263640"/>
            <a:ext cx="8229600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most wanTED — FH Campus 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1F5F9"/>
                </a:solidFill>
                <a:latin typeface="Segoe UI"/>
              </a:defRPr>
            </a:pPr>
            <a:r>
              <a:t>Content Negotiation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PaymentService — JSON, XML &amp; CSV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2651760" cy="43891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65176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82F6"/>
                </a:solidFill>
                <a:latin typeface="Segoe UI"/>
              </a:defRPr>
            </a:pPr>
            <a:r>
              <a:t>JSON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2103120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299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B82F6"/>
                </a:solidFill>
                <a:latin typeface="Segoe UI"/>
              </a:defRPr>
            </a:pPr>
            <a:r>
              <a:t>application/json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60320"/>
            <a:ext cx="2377440" cy="2926080"/>
          </a:xfrm>
          <a:prstGeom prst="roundRect">
            <a:avLst/>
          </a:prstGeom>
          <a:solidFill>
            <a:srgbClr val="0D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65176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onsolas"/>
              </a:defRPr>
            </a:pPr>
            <a:r>
              <a:t>{</a:t>
            </a:r>
            <a:br/>
            <a:r>
              <a:t>  "Id": 1,</a:t>
            </a:r>
            <a:br/>
            <a:r>
              <a:t>  "Amount": 49.99,</a:t>
            </a:r>
            <a:br/>
            <a:r>
              <a:t>  "Currency": "EUR",</a:t>
            </a:r>
            <a:br/>
            <a:r>
              <a:t>  "Description": "Order",</a:t>
            </a:r>
            <a:br/>
            <a:r>
              <a:t>  "PaymentMethod": "Card"</a:t>
            </a:r>
            <a:br/>
            <a: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371600"/>
            <a:ext cx="2651760" cy="43891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371600"/>
            <a:ext cx="265176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554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Segoe UI"/>
              </a:defRPr>
            </a:pPr>
            <a:r>
              <a:t>XML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2011680"/>
            <a:ext cx="2103120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20299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application/xml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2560320"/>
            <a:ext cx="2377440" cy="2926080"/>
          </a:xfrm>
          <a:prstGeom prst="roundRect">
            <a:avLst/>
          </a:prstGeom>
          <a:solidFill>
            <a:srgbClr val="0D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265176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onsolas"/>
              </a:defRPr>
            </a:pPr>
            <a:r>
              <a:t>&lt;Payment&gt;</a:t>
            </a:r>
            <a:br/>
            <a:r>
              <a:t>  &lt;Id&gt;1&lt;/Id&gt;</a:t>
            </a:r>
            <a:br/>
            <a:r>
              <a:t>  &lt;Amount&gt;49.99&lt;/Amount&gt;</a:t>
            </a:r>
            <a:br/>
            <a:r>
              <a:t>  &lt;Currency&gt;EUR&lt;/Currency&gt;</a:t>
            </a:r>
            <a:br/>
            <a:r>
              <a:t>  &lt;Description&gt;Order&lt;/Description&gt;</a:t>
            </a:r>
            <a:br/>
            <a:r>
              <a:t>  &lt;PaymentMethod&gt;Card&lt;/PaymentMethod&gt;</a:t>
            </a:r>
            <a:br/>
            <a:r>
              <a:t>&lt;/Payment&gt;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371600"/>
            <a:ext cx="2651760" cy="43891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371600"/>
            <a:ext cx="265176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554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Segoe UI"/>
              </a:defRPr>
            </a:pPr>
            <a:r>
              <a:t>CSV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011680"/>
            <a:ext cx="2103120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0299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59E0B"/>
                </a:solidFill>
                <a:latin typeface="Segoe UI"/>
              </a:defRPr>
            </a:pPr>
            <a:r>
              <a:t>text/csv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560320"/>
            <a:ext cx="2377440" cy="2926080"/>
          </a:xfrm>
          <a:prstGeom prst="roundRect">
            <a:avLst/>
          </a:prstGeom>
          <a:solidFill>
            <a:srgbClr val="0D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65176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onsolas"/>
              </a:defRPr>
            </a:pPr>
            <a:r>
              <a:t>Id,Amount,Currency,</a:t>
            </a:r>
            <a:br/>
            <a:r>
              <a:t>Description,PaymentMethod</a:t>
            </a:r>
            <a:br/>
            <a:r>
              <a:t>1,49.99,EUR,</a:t>
            </a:r>
            <a:br/>
            <a:r>
              <a:t>Order,Card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263640"/>
            <a:ext cx="8229600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most wanTED — FH Campus 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1F5F9"/>
                </a:solidFill>
                <a:latin typeface="Segoe UI"/>
              </a:defRPr>
            </a:pPr>
            <a:r>
              <a:t>OData v4 — ProductODataService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Standardisierte Abfrage-Syntax für Produkte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OData (Open Data Protocol) ermöglicht SQL-ähnliche Abfragen über REST. Der ProductODataService bietet $filter, $orderby, $top, $skip, $select und $count.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19456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94360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Abfrage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URL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Alle Produkte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/odata/Products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Preis &gt; 500€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/odata/Products?$filter=Price gt 500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Top 5 teuerste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/odata/Products?$orderby=Price desc&amp;$top=5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Nur Laptops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/odata/Products?$filter=Category eq 'Laptops'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Name + Preis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/odata/Products?$select=Name,Price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Mit Anzahl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/odata/Products?$count=true&amp;$top=3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3035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Projektbezug most wanTED: OData kann dazu verwendet werden, die Ergebnisse abgegebener Fragebögen generisch über ein SQL-ähnliches Abfrageinterface bereitzustellen.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263640"/>
            <a:ext cx="8229600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most wanTED — FH Campus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1F5F9"/>
                </a:solidFill>
                <a:latin typeface="Segoe UI"/>
              </a:defRPr>
            </a:pPr>
            <a:r>
              <a:t>Zentrales Logging — gRPC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LoggingService mit Protocol Buffers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Protobuf-Definition (logging.proto)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3931920" cy="4023360"/>
          </a:xfrm>
          <a:prstGeom prst="roundRect">
            <a:avLst/>
          </a:prstGeom>
          <a:solidFill>
            <a:srgbClr val="0D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3566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onsolas"/>
              </a:defRPr>
            </a:pPr>
            <a:r>
              <a:t>service LoggingGrpcService {</a:t>
            </a:r>
            <a:br/>
            <a:r>
              <a:t>  rpc LogError (LogEntry)</a:t>
            </a:r>
            <a:br/>
            <a:r>
              <a:t>      returns (LogResponse);</a:t>
            </a:r>
            <a:br/>
            <a:r>
              <a:t>  rpc GetLogs (LogFilter)</a:t>
            </a:r>
            <a:br/>
            <a:r>
              <a:t>      returns (stream LogEntry);</a:t>
            </a:r>
            <a:br/>
            <a:r>
              <a:t>}</a:t>
            </a:r>
            <a:br/>
            <a:br/>
            <a:r>
              <a:t>message LogEntry {</a:t>
            </a:r>
            <a:br/>
            <a:r>
              <a:t>  string timestamp = 1;</a:t>
            </a:r>
            <a:br/>
            <a:r>
              <a:t>  string service_name = 2;</a:t>
            </a:r>
            <a:br/>
            <a:r>
              <a:t>  string instance_url = 3;</a:t>
            </a:r>
            <a:br/>
            <a:r>
              <a:t>  string error_message = 4;</a:t>
            </a:r>
            <a:br/>
            <a:r>
              <a:t>  string http_status_code = 5;</a:t>
            </a:r>
            <a:br/>
            <a:r>
              <a:t>  int32 retry_attempt = 6;</a:t>
            </a:r>
            <a:br/>
            <a:r>
              <a:t>  string correlation_id = 7;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3716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Vorteile von gRPC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737360"/>
            <a:ext cx="3931920" cy="86868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8105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⚡ Performant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103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Binäres Protobuf-Format statt</a:t>
            </a:r>
            <a:br/>
            <a:r>
              <a:t>textbasiertem JSON — kleiner &amp; schneller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2743200"/>
            <a:ext cx="3931920" cy="86868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28163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📋 Typisiert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108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Code-Generierung aus .proto-Dateien</a:t>
            </a:r>
            <a:br/>
            <a:r>
              <a:t>→ compile-time Sicherheit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3749039"/>
            <a:ext cx="3931920" cy="86868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3822191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🔄 Streaming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411479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Server-Streaming für</a:t>
            </a:r>
            <a:br/>
            <a:r>
              <a:t>Echtzeit-Log-Abfragen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4754880"/>
            <a:ext cx="3931920" cy="86868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48280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🛡️ Fire &amp; Forget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5120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Logging-Fehler blockieren</a:t>
            </a:r>
            <a:br/>
            <a:r>
              <a:t>nicht den Hauptprozess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263640"/>
            <a:ext cx="8229600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most wanTED — FH Campus 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1F5F9"/>
                </a:solidFill>
                <a:latin typeface="Segoe UI"/>
              </a:defRPr>
            </a:pPr>
            <a:r>
              <a:t>Webhook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Event-basierte Benachrichtigungen bei Produktänderungen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463040"/>
            <a:ext cx="1965960" cy="22860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196596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4592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  <a:latin typeface="Segoe UI"/>
              </a:defRPr>
            </a:pPr>
            <a:r>
              <a:t>1. Subscribe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94560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WebhookSubscriber</a:t>
            </a:r>
            <a:br/>
            <a:r>
              <a:t>registriert Callback-URL</a:t>
            </a:r>
            <a:br/>
            <a:r>
              <a:t>beim PaymentService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1463040"/>
            <a:ext cx="1965960" cy="22860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14600" y="1463040"/>
            <a:ext cx="196596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164592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2. 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194560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Neues Payment wird</a:t>
            </a:r>
            <a:br/>
            <a:r>
              <a:t>erstellt (POST)</a:t>
            </a:r>
            <a:br/>
            <a:r>
              <a:t>→ Event ausgelöst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59" y="1463040"/>
            <a:ext cx="1965960" cy="22860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09159" y="1463040"/>
            <a:ext cx="196596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599" y="164592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3. Notify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599" y="2194560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PaymentService sendet</a:t>
            </a:r>
            <a:br/>
            <a:r>
              <a:t>HTTP POST mit Payload</a:t>
            </a:r>
            <a:br/>
            <a:r>
              <a:t>an alle Subscriber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19" y="1463040"/>
            <a:ext cx="1965960" cy="22860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03719" y="1463040"/>
            <a:ext cx="196596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59" y="164592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B5CF6"/>
                </a:solidFill>
                <a:latin typeface="Segoe UI"/>
              </a:defRPr>
            </a:pPr>
            <a:r>
              <a:t>4. 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59" y="2194560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WebhookSubscriber</a:t>
            </a:r>
            <a:br/>
            <a:r>
              <a:t>verarbeitet die</a:t>
            </a:r>
            <a:br/>
            <a:r>
              <a:t>Benachrichtigung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Webhook-Payload (Beispiel)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389120"/>
            <a:ext cx="8229600" cy="1280160"/>
          </a:xfrm>
          <a:prstGeom prst="roundRect">
            <a:avLst/>
          </a:prstGeom>
          <a:solidFill>
            <a:srgbClr val="0D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48056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onsolas"/>
              </a:defRPr>
            </a:pPr>
            <a:r>
              <a:t>{ "EventType": "payment.created",</a:t>
            </a:r>
            <a:br/>
            <a:r>
              <a:t>  "Data": { "Id": 42, "Amount": 149.99, "Currency": "EUR" },</a:t>
            </a:r>
            <a:br/>
            <a:r>
              <a:t>  "Timestamp": "2026-06-08T10:30:00Z" 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263640"/>
            <a:ext cx="8229600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most wanTED — FH Campus 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1F5F9"/>
                </a:solidFill>
                <a:latin typeface="Segoe UI"/>
              </a:defRPr>
            </a:pPr>
            <a:r>
              <a:t>Fachartikelanalyse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Montesi &amp; Weber (2016) — Circuit Breakers, Discovery, API Gateways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2651760" cy="32004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65176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  <a:latin typeface="Segoe UI"/>
              </a:defRPr>
            </a:pPr>
            <a:r>
              <a:t>Circuit Breaker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Verhindert kaskadierende Fehler</a:t>
            </a:r>
            <a:br/>
            <a:r>
              <a:t>zwischen Services.</a:t>
            </a:r>
            <a:br/>
            <a:br/>
            <a:r>
              <a:t>Umsetzung: Polly im MeiShop</a:t>
            </a:r>
            <a:br/>
            <a:r>
              <a:t>für CreditCard-Aufrufe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371600"/>
            <a:ext cx="2651760" cy="32004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1371600"/>
            <a:ext cx="265176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  <a:latin typeface="Segoe UI"/>
              </a:defRPr>
            </a:pPr>
            <a:r>
              <a:t>Service Discovery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10312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Dynamische Skalierung ohne</a:t>
            </a:r>
            <a:br/>
            <a:r>
              <a:t>manuelle Konfigurationsänderungen.</a:t>
            </a:r>
            <a:br/>
            <a:br/>
            <a:r>
              <a:t>Umsetzung: HashiCorp Consul</a:t>
            </a:r>
            <a:br/>
            <a:r>
              <a:t>— alle Services registrieren sich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371600"/>
            <a:ext cx="2651760" cy="32004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371600"/>
            <a:ext cx="265176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API Gateway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0312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Zentraler Einstiegspunkt mit</a:t>
            </a:r>
            <a:br/>
            <a:r>
              <a:t>Cross-Cutting Concerns.</a:t>
            </a:r>
            <a:br/>
            <a:br/>
            <a:r>
              <a:t>Umsetzung: MeiShop als</a:t>
            </a:r>
            <a:br/>
            <a:r>
              <a:t>Gateway + Router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846320"/>
            <a:ext cx="8412480" cy="109728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93776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Segoe UI"/>
              </a:defRPr>
            </a:pPr>
            <a:r>
              <a:t>Reflexion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2578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Nutzen: Bewährte Lösungen für verteilte Systeme, gute .NET-Integration. Grenzen: Vernachlässigt organisatorische Aspekte und neuere Konzepte wie Service Mesh (Istio, Linkerd).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263640"/>
            <a:ext cx="8229600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most wanTED — FH Campus 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1F5F9"/>
                </a:solidFill>
                <a:latin typeface="Segoe UI"/>
              </a:defRPr>
            </a:pPr>
            <a:r>
              <a:t>Produktempfehlung — SOAP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TED 8: Genehmigungsprozess mit Workflow-Engine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1371600"/>
            <a:ext cx="1600200" cy="13716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41732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82F6"/>
                </a:solidFill>
                <a:latin typeface="Segoe UI"/>
              </a:defRPr>
            </a:pPr>
            <a:r>
              <a:t>SOAP</a:t>
            </a:r>
            <a:br/>
            <a:r>
              <a:t>Endpoint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01168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XML-Payload</a:t>
            </a:r>
            <a:br/>
            <a:r>
              <a:t>empfangen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7373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B82F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5960" y="1371600"/>
            <a:ext cx="1600200" cy="13716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141732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Validierung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01168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Produkt prüfen</a:t>
            </a:r>
            <a:br/>
            <a:r>
              <a:t>(ProductService)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7373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6B6D4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39" y="1371600"/>
            <a:ext cx="1600200" cy="13716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141732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Auto-Check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01168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Preisschwelle</a:t>
            </a:r>
            <a:br/>
            <a:r>
              <a:t>prüfen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39" y="17373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32120" y="1371600"/>
            <a:ext cx="1600200" cy="13716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32120" y="141732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Human</a:t>
            </a:r>
            <a:br/>
            <a:r>
              <a:t>Task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201168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Gesellschafter</a:t>
            </a:r>
            <a:br/>
            <a:r>
              <a:t>Freigabe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17373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1371600"/>
            <a:ext cx="1600200" cy="13716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141732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5CF6"/>
                </a:solidFill>
                <a:latin typeface="Segoe UI"/>
              </a:defRPr>
            </a:pPr>
            <a:r>
              <a:t>Ergebnis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01168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Genehmigt oder</a:t>
            </a:r>
            <a:br/>
            <a:r>
              <a:t>Abgelehnt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274320" y="3200400"/>
          <a:ext cx="8595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194560"/>
                <a:gridCol w="2377440"/>
                <a:gridCol w="237744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Kriterium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BPEL (SOA)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Orchestrierung (Saga)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Choreographie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Paradigma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Zentral, SOAP/XML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Zentral, REST/gRPC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Dezentral, Events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Kopplung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Eng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Lose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Sehr lose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Fehler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XA-Transaktionen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Compensating Tx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Event-basiert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Fazit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❌ Veraltet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✅ Empfohlen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⚠️ Für simple Flows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457200" y="6263640"/>
            <a:ext cx="8229600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most wanTED — FH Campus 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1F5F9"/>
                </a:solidFill>
                <a:latin typeface="Segoe UI"/>
              </a:defRPr>
            </a:pPr>
            <a:r>
              <a:t>KI, Low-Code &amp; Visionäre Weiterentwicklung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TED 9: Zukunftsperspektiven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4114800" cy="21031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0800" cy="21031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0" y="1463040"/>
            <a:ext cx="640080" cy="32004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4813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1F5F9"/>
                </a:solidFill>
                <a:latin typeface="Segoe UI"/>
              </a:defRPr>
            </a:pPr>
            <a:r>
              <a:t>3P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Segoe UI"/>
              </a:defRPr>
            </a:pPr>
            <a:r>
              <a:t>a) KI-Unterstützung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37490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LLM für automatisierte Fragebogen-</a:t>
            </a:r>
            <a:br/>
            <a:r>
              <a:t>Auswertung (Sentiment-Analyse,</a:t>
            </a:r>
            <a:br/>
            <a:r>
              <a:t>Kategorisierung). Risiken:</a:t>
            </a:r>
            <a:br/>
            <a:r>
              <a:t>Halluzinationen, DSGVO.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371600"/>
            <a:ext cx="4114800" cy="21031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0" y="1371600"/>
            <a:ext cx="50800" cy="2103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640080" cy="3200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4813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1F5F9"/>
                </a:solidFill>
                <a:latin typeface="Segoe UI"/>
              </a:defRPr>
            </a:pPr>
            <a:r>
              <a:t>3P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1508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Segoe UI"/>
              </a:defRPr>
            </a:pPr>
            <a:r>
              <a:t>b) Low-Code / No-Code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1920240"/>
            <a:ext cx="37490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Power Automate / n8n für</a:t>
            </a:r>
            <a:br/>
            <a:r>
              <a:t>Fragebogen-Workflow.</a:t>
            </a:r>
            <a:br/>
            <a:r>
              <a:t>Vorteil: Schnelle Umsetzung.</a:t>
            </a:r>
            <a:br/>
            <a:r>
              <a:t>Nachteil: Vendor Lock-in.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840480"/>
            <a:ext cx="4114800" cy="21031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50800" cy="21031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57600" y="3931920"/>
            <a:ext cx="640080" cy="32004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395020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1F5F9"/>
                </a:solidFill>
                <a:latin typeface="Segoe UI"/>
              </a:defRPr>
            </a:pPr>
            <a:r>
              <a:t>3P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77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Segoe UI"/>
              </a:defRPr>
            </a:pPr>
            <a:r>
              <a:t>c) Vision: AI-Discovery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89120"/>
            <a:ext cx="37490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ML-Modelle optimieren Routing</a:t>
            </a:r>
            <a:br/>
            <a:r>
              <a:t>und Auto-Scaling in Consul.</a:t>
            </a:r>
            <a:br/>
            <a:r>
              <a:t>Self-Healing Infrastructure</a:t>
            </a:r>
            <a:br/>
            <a:r>
              <a:t>statt manueller Konfiguration.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3840480"/>
            <a:ext cx="4114800" cy="21031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54880" y="3840480"/>
            <a:ext cx="50800" cy="2103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46720" y="3931920"/>
            <a:ext cx="640080" cy="3200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395020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1F5F9"/>
                </a:solidFill>
                <a:latin typeface="Segoe UI"/>
              </a:defRPr>
            </a:pPr>
            <a:r>
              <a:t>3P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3977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Ergänzend: Agentic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4389120"/>
            <a:ext cx="37490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Agentic AI vs. RPA:</a:t>
            </a:r>
            <a:br/>
            <a:r>
              <a:t>RPA = regelbasiert</a:t>
            </a:r>
            <a:br/>
            <a:r>
              <a:t>Agentic AI = lernfähig, adaptiv</a:t>
            </a:r>
            <a:br/>
            <a:r>
              <a:t>Frameworks: OpenClaw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263640"/>
            <a:ext cx="8229600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most wanTED — FH Campus 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1F5F9"/>
                </a:solidFill>
                <a:latin typeface="Segoe UI"/>
              </a:defRPr>
            </a:pPr>
            <a:r>
              <a:t>Live-Demo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Gesamtlösung demonstrieren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02920" cy="50292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0817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1F5F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325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Segoe UI"/>
              </a:defRPr>
            </a:pPr>
            <a:r>
              <a:t>Consul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45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Alle registrierten Services</a:t>
            </a:r>
            <a:br/>
            <a:r>
              <a:t>und Health Checks zeigen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53312"/>
            <a:ext cx="4297680" cy="594360"/>
          </a:xfrm>
          <a:prstGeom prst="roundRect">
            <a:avLst/>
          </a:prstGeom>
          <a:solidFill>
            <a:srgbClr val="0D111E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41732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6B6D4"/>
                </a:solidFill>
                <a:latin typeface="Consolas"/>
              </a:defRPr>
            </a:pPr>
            <a:r>
              <a:t>http://localhost:8500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31720"/>
            <a:ext cx="502920" cy="50292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6829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1F5F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286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Segoe UI"/>
              </a:defRPr>
            </a:pPr>
            <a:r>
              <a:t>MeiShop 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606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Produktliste aus</a:t>
            </a:r>
            <a:br/>
            <a:r>
              <a:t>ProductService + FtpService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313432"/>
            <a:ext cx="4297680" cy="594360"/>
          </a:xfrm>
          <a:prstGeom prst="roundRect">
            <a:avLst/>
          </a:prstGeom>
          <a:solidFill>
            <a:srgbClr val="0D111E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37744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6B6D4"/>
                </a:solidFill>
                <a:latin typeface="Consolas"/>
              </a:defRPr>
            </a:pPr>
            <a:r>
              <a:t>http://localhost:7024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91840"/>
            <a:ext cx="502920" cy="5029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32841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1F5F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246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Segoe UI"/>
              </a:defRPr>
            </a:pPr>
            <a:r>
              <a:t>OData Query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566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Standardisierte Abfrage</a:t>
            </a:r>
            <a:br/>
            <a:r>
              <a:t>mit $filter, $orderby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273552"/>
            <a:ext cx="4297680" cy="594360"/>
          </a:xfrm>
          <a:prstGeom prst="roundRect">
            <a:avLst/>
          </a:prstGeom>
          <a:solidFill>
            <a:srgbClr val="0D111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333756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6B6D4"/>
                </a:solidFill>
                <a:latin typeface="Consolas"/>
              </a:defRPr>
            </a:pPr>
            <a:r>
              <a:t>localhost:7500/odata/Products</a:t>
            </a:r>
            <a:br/>
            <a:r>
              <a:t>?$filter=Price gt 500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251960"/>
            <a:ext cx="50292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28853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1F5F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206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SAGA Bestellung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526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Order-Workflow mit</a:t>
            </a:r>
            <a:br/>
            <a:r>
              <a:t>Compensating Transactions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4233672"/>
            <a:ext cx="4297680" cy="594360"/>
          </a:xfrm>
          <a:prstGeom prst="roundRect">
            <a:avLst/>
          </a:prstGeom>
          <a:solidFill>
            <a:srgbClr val="0D111E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429768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6B6D4"/>
                </a:solidFill>
                <a:latin typeface="Consolas"/>
              </a:defRPr>
            </a:pPr>
            <a:r>
              <a:t>POST localhost:7700</a:t>
            </a:r>
            <a:br/>
            <a:r>
              <a:t>/api/orders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212080"/>
            <a:ext cx="502920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24865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1F5F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1663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Segoe UI"/>
              </a:defRPr>
            </a:pPr>
            <a:r>
              <a:t>Content Negotiation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486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Payment in JSON, XML</a:t>
            </a:r>
            <a:br/>
            <a:r>
              <a:t>oder CSV erstellen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0" y="5193792"/>
            <a:ext cx="4297680" cy="594360"/>
          </a:xfrm>
          <a:prstGeom prst="roundRect">
            <a:avLst/>
          </a:prstGeom>
          <a:solidFill>
            <a:srgbClr val="0D111E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525780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6B6D4"/>
                </a:solidFill>
                <a:latin typeface="Consolas"/>
              </a:defRPr>
            </a:pPr>
            <a:r>
              <a:t>POST localhost:7400</a:t>
            </a:r>
            <a:br/>
            <a:r>
              <a:t>Accept: text/csv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263640"/>
            <a:ext cx="8229600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most wanTED — FH Campus 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1F5F9"/>
                </a:solidFill>
                <a:latin typeface="Segoe UI"/>
              </a:defRPr>
            </a:pPr>
            <a:r>
              <a:t>Fazit &amp; Ausblick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4023360" cy="41148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402336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✅ Erreicht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9 eigenständige Microservices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5 Kommunikationsprotokolle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Consul Service Discovery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SAGA Pattern mit Compensation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Content Negotiation (JSON/XML/CSV)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Round-Robin Load Balancing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Polly Retry mit Exp. Backoff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gRPC Logging-Infrastruktur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Webhook Event-System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OData v4 Abfrage-Interface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371600"/>
            <a:ext cx="4023360" cy="41148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0" y="1371600"/>
            <a:ext cx="402336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Segoe UI"/>
              </a:defRPr>
            </a:pPr>
            <a:r>
              <a:t>🔮 Ausblick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0116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Containerisierung (Docker)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Service Mesh (Istio/Linkerd)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Async Messaging (RabbitMQ)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KI-gestützte Observability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AI-Driven Auto-Scaling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Secrets Management (Vault)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CI/CD Pipeline</a:t>
            </a:r>
          </a:p>
          <a:p>
            <a:pPr>
              <a:spcAft>
                <a:spcPts val="5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End-to-End Tracing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7607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6B6D4"/>
                </a:solidFill>
                <a:latin typeface="Segoe UI"/>
              </a:defRPr>
            </a:pPr>
            <a:r>
              <a:t>Vielen Dank für Ihre Aufmerksamkeit!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263640"/>
            <a:ext cx="8229600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most wanTED — FH Campus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20/20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